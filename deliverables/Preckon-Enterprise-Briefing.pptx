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Stand still. Do not touch the mouse.</a:t>
            </a:r>
          </a:p>
          <a:p/>
          <a:p>
            <a:r>
              <a:rPr sz="1200">
                <a:latin typeface="Segoe UI"/>
              </a:rPr>
              <a:t>SAY  —  "Twenty minutes. I'll spend nine on how this is built, five showing you the live workspace, and the last six on exactly where the build actually stands — including what isn't finished. Stop me whenever you want to test something."</a:t>
            </a:r>
          </a:p>
          <a:p/>
          <a:p>
            <a:r>
              <a:rPr sz="1200">
                <a:latin typeface="Segoe UI"/>
              </a:rPr>
              <a:t>WHY OPEN THIS WAY: a CTO audience has sat through decks that oversold. Naming the honest-gaps segment in the first sentence buys you the middle nine minutes. Don't skip it.</a:t>
            </a:r>
          </a:p>
          <a:p/>
          <a:p>
            <a:r>
              <a:rPr sz="1200">
                <a:latin typeface="Segoe UI"/>
              </a:rPr>
              <a:t>TIME BUDGET: 0:00–0:30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"Everything else that commits your company at this scale sits in a system with an audit trail. Payroll does. The ledger does. The estimate doesn't — it sits in a spreadsheet on somebody's laptop, and the reasoning behind it is in their head."</a:t>
            </a:r>
          </a:p>
          <a:p/>
          <a:p>
            <a:r>
              <a:rPr sz="1200">
                <a:latin typeface="Segoe UI"/>
              </a:rPr>
              <a:t>DO  —  Pause on 'concentration'. This is the one that lands with a CTO — it is a key-person risk they already know about and cannot currently fix with technology.</a:t>
            </a:r>
          </a:p>
          <a:p/>
          <a:p>
            <a:r>
              <a:rPr sz="1200">
                <a:latin typeface="Segoe UI"/>
              </a:rPr>
              <a:t>IF THEY PUSH BACK with 'our estimators are excellent' — agree immediately. "They are, and that's the problem. Excellence that can't be inspected can't be scaled or defended."</a:t>
            </a:r>
          </a:p>
          <a:p/>
          <a:p>
            <a:r>
              <a:rPr sz="1200">
                <a:latin typeface="Segoe UI"/>
              </a:rPr>
              <a:t>TIME BUDGET: 0:30–1:15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Trace the Preckon row left to right with the cursor, once, slowly.</a:t>
            </a:r>
          </a:p>
          <a:p/>
          <a:p>
            <a:r>
              <a:rPr sz="1200">
                <a:latin typeface="Segoe UI"/>
              </a:rPr>
              <a:t>SAY  —  "PM platforms pick up after procurement — they manage what you have already produced. Takeoff tools measure and hand you a number. The join between them is a person retyping into a spreadsheet, and that is exactly where the trail dies."</a:t>
            </a:r>
          </a:p>
          <a:p/>
          <a:p>
            <a:r>
              <a:rPr sz="1200">
                <a:latin typeface="Segoe UI"/>
              </a:rPr>
              <a:t>Say the legend once so the diagram reads itself, then stop explaining it.</a:t>
            </a:r>
          </a:p>
          <a:p/>
          <a:p>
            <a:r>
              <a:rPr sz="1200">
                <a:latin typeface="Segoe UI"/>
              </a:rPr>
              <a:t>TIME BUDGET: 1:15–2:00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"Point three is the one that matters in this room. We are not asking you to replace anything. For an enterprise, Preckon is a layer that reads your existing systems and produces the thing none of them produce — a defensible chain from document to price."</a:t>
            </a:r>
          </a:p>
          <a:p/>
          <a:p>
            <a:r>
              <a:rPr sz="1200">
                <a:latin typeface="Segoe UI"/>
              </a:rPr>
              <a:t>ARCHITECTURAL COMMITMENT WORTH STATING: there is no separate enterprise fork. Same domain model, identity model, API contracts, audit model and AI governance across SaaS, dedicated cloud and on-premise. One codebase, four deployment shapes.</a:t>
            </a:r>
          </a:p>
          <a:p/>
          <a:p>
            <a:r>
              <a:rPr sz="1200">
                <a:latin typeface="Segoe UI"/>
              </a:rPr>
              <a:t>TIME BUDGET: 2:00–2:45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Do not read all eight aloud. Name three and move. Sprint this slide.</a:t>
            </a:r>
          </a:p>
          <a:p/>
          <a:p>
            <a:r>
              <a:rPr sz="1200">
                <a:latin typeface="Segoe UI"/>
              </a:rPr>
              <a:t>SAY  —  "Eight modules, and the important word is 'chain', not 'suite'. A suite is products that share a login. This is one record that eight stages read and write in order."</a:t>
            </a:r>
          </a:p>
          <a:p/>
          <a:p>
            <a:r>
              <a:rPr sz="1200">
                <a:latin typeface="Segoe UI"/>
              </a:rPr>
              <a:t>TIME BUDGET: 2:45–3:20  ·  FIRST TO CUT if running long.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Say it, then stop for two full seconds. This is the sentence they should repeat to their CEO.</a:t>
            </a:r>
          </a:p>
          <a:p/>
          <a:p>
            <a:r>
              <a:rPr sz="1200">
                <a:latin typeface="Segoe UI"/>
              </a:rPr>
              <a:t>THIS SLIDE IS YOUR ANCHOR. Every architecture slide that follows exists to make this claim survive an audit. If you are running short on time later, cut a module slide — never cut this one.</a:t>
            </a:r>
          </a:p>
          <a:p/>
          <a:p>
            <a:r>
              <a:rPr sz="1200">
                <a:latin typeface="Segoe UI"/>
              </a:rPr>
              <a:t>TIME BUDGET: 3:20–3:50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"Two planes. The host plane is where we define the product — features, editions, prices. The tenant plane is where your projects live. The only thing that crosses is a resolved entitlement set. That's it."</a:t>
            </a:r>
          </a:p>
          <a:p/>
          <a:p>
            <a:r>
              <a:rPr sz="1200">
                <a:latin typeface="Segoe UI"/>
              </a:rPr>
              <a:t>THE CTO PAYOFF, SAY IT EXPLICITLY: "This is why a private or sovereign deployment isn't a fork. The tenant plane doesn't know what it costs, and doesn't care where it runs."</a:t>
            </a:r>
          </a:p>
          <a:p/>
          <a:p>
            <a:r>
              <a:rPr sz="1200">
                <a:latin typeface="Segoe UI"/>
              </a:rPr>
              <a:t>DO  —  LIKELY QUESTION — 'Where does billing data sit?' Host plane, never in the tenant. A tenant database contains no commercial terms.</a:t>
            </a:r>
          </a:p>
          <a:p/>
          <a:p>
            <a:r>
              <a:rPr sz="1200">
                <a:latin typeface="Segoe UI"/>
              </a:rPr>
              <a:t>TIME BUDGET: 3:50–4:50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"An agent in this system can do exactly four things. It can emit a typed artifact, read artifacts it's allowed to read, queue a job, and ask a human to review something. There is no fifth call. It cannot write to a table, cannot approve anything, cannot reach the network."</a:t>
            </a:r>
          </a:p>
          <a:p/>
          <a:p>
            <a:r>
              <a:rPr sz="1200">
                <a:latin typeface="Segoe UI"/>
              </a:rPr>
              <a:t>WHY THIS SLIDE IS HERE: a technical partner is buying the second decade, not the first release. A four-syscall ABI plus a data-defined vertical is the argument that this can be extended without being rewritten — and that a partner's own vertical could run on it.</a:t>
            </a:r>
          </a:p>
          <a:p/>
          <a:p>
            <a:r>
              <a:rPr sz="1200">
                <a:latin typeface="Segoe UI"/>
              </a:rPr>
              <a:t>DO  —  IF ASKED 'How long to add a vertical?' — Be honest: the kernel supports it and underwriting proves it, but only construction has been built to depth. A new pack is weeks of domain modelling, not a platform rewrite.</a:t>
            </a:r>
          </a:p>
          <a:p/>
          <a:p>
            <a:r>
              <a:rPr sz="1200">
                <a:latin typeface="Segoe UI"/>
              </a:rPr>
              <a:t>TIME BUDGET: 4:50–5:50  ·  EXPAND HERE if running short.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This slide sets up the demo. Tell them you will show it live in six minutes, so they watch for it.</a:t>
            </a:r>
          </a:p>
          <a:p/>
          <a:p>
            <a:r>
              <a:rPr sz="1200">
                <a:latin typeface="Segoe UI"/>
              </a:rPr>
              <a:t>SAY  —  "Estimating software has always let you correct a number. What it has never done is tell you what else just became wrong. Change a wall thickness and the quantity, the price, the procurement package and the programme are all downstream of it. Here, they all go stale, visibly, with a list."</a:t>
            </a:r>
          </a:p>
          <a:p/>
          <a:p>
            <a:r>
              <a:rPr sz="1200">
                <a:latin typeface="Segoe UI"/>
              </a:rPr>
              <a:t>TIME BUDGET: 5:50–6:50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"The AI cannot commit a BOQ change. Not 'we've configured it not to' — it structurally cannot. It has four syscalls and none of them writes authoritative state. The only path from a proposal to a record runs through a person who holds the confirm permission."</a:t>
            </a:r>
          </a:p>
          <a:p/>
          <a:p>
            <a:r>
              <a:rPr sz="1200">
                <a:latin typeface="Segoe UI"/>
              </a:rPr>
              <a:t>THIS IS YOUR STRONGEST SLIDE FOR A RISK-AVERSE CTO. Every AI horror story they have read is about a model taking an action. Say plainly: the failure mode here is a bad proposal that a human rejects, not a bad commit nobody noticed.</a:t>
            </a:r>
          </a:p>
          <a:p/>
          <a:p>
            <a:r>
              <a:rPr sz="1200">
                <a:latin typeface="Segoe UI"/>
              </a:rPr>
              <a:t>DO  —  IF THEY RAISE AUTOPILOT (batch mode exists) — raise it first yourself. It requires the confirm permission, and starting, stopping and finishing it are each on the audit chain. It records that a person delegated, and who.</a:t>
            </a:r>
          </a:p>
          <a:p/>
          <a:p>
            <a:r>
              <a:rPr sz="1200">
                <a:latin typeface="Segoe UI"/>
              </a:rPr>
              <a:t>TIME BUDGET: 6:50–7:35  ·  NEVER CUT.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"Frontier inference is the sixth thing we try, not the first. Most of what looks like AI in this product is thirty-four deterministic engines doing arithmetic — CPM, measurement, BOQ reconciliation, revision diffing. We use a model where a model is genuinely needed, and we can prove which calls those were."</a:t>
            </a:r>
          </a:p>
          <a:p/>
          <a:p>
            <a:r>
              <a:rPr sz="1200">
                <a:latin typeface="Segoe UI"/>
              </a:rPr>
              <a:t>TWO FACTS TO HAVE READY: the model registry, budgets and a per-attempt usage ledger are wired and consulted on every enqueue — deployed 20 August. Enforcement currently runs in report-only mode behind a flag (ADR-009) because unclassified data defaults to confidential, which SaaS mode forbids sending out. Say that if pressed; do not volunteer it here.</a:t>
            </a:r>
          </a:p>
          <a:p/>
          <a:p>
            <a:r>
              <a:rPr sz="1200">
                <a:latin typeface="Segoe UI"/>
              </a:rPr>
              <a:t>DO  —  MARGIN QUESTION — 'Doesn't AI destroy your gross margin?' That's exactly why the ladder exists. We don't monetise tokens; efficiency gains improve margin rather than price.</a:t>
            </a:r>
          </a:p>
          <a:p/>
          <a:p>
            <a:r>
              <a:rPr sz="1200">
                <a:latin typeface="Segoe UI"/>
              </a:rPr>
              <a:t>TIME BUDGET: 7:35–8:35  ·  Retires three objections at once: accuracy, cost, sovereignty.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"A log tells you what the application said happened. A hash chain tells you whether anyone changed the record afterwards. That is the difference between a log and evidence, and in a claim it is the whole difference."</a:t>
            </a:r>
          </a:p>
          <a:p/>
          <a:p>
            <a:r>
              <a:rPr sz="1200">
                <a:latin typeface="Segoe UI"/>
              </a:rPr>
              <a:t>DO  —  Move fast here — 25 seconds. You are going to SHOW the verify button in two minutes, and showing beats telling.</a:t>
            </a:r>
          </a:p>
          <a:p/>
          <a:p>
            <a:r>
              <a:rPr sz="1200">
                <a:latin typeface="Segoe UI"/>
              </a:rPr>
              <a:t>TIME BUDGET: 8:35–9:00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Press NEXT to advance past this slide only after the demo. Leave it up while you switch to the browser — it is the frame they hold while you drive.</a:t>
            </a:r>
          </a:p>
          <a:p/>
          <a:p>
            <a:r>
              <a:rPr sz="1200">
                <a:latin typeface="Segoe UI"/>
              </a:rPr>
              <a:t>SAY  —  "Handing over to the browser: Pick any line you like. I'd rather you chose it than I did."</a:t>
            </a:r>
          </a:p>
          <a:p/>
          <a:p>
            <a:r>
              <a:rPr sz="1200">
                <a:latin typeface="Segoe UI"/>
              </a:rPr>
              <a:t>BEAT 03 IS THE EMOTIONAL PEAK OF THE ENTIRE TWENTY MINUTES. Genuinely let them choose the line. Do not talk over the trace while they read it. If a quantity looks wrong, do not deflect — say 'Good, that's exactly the case this is built for', correct it, and show the stale cascade. A visible correction is worth more than a clean demo.</a:t>
            </a:r>
          </a:p>
          <a:p/>
          <a:p>
            <a:r>
              <a:rPr sz="1200">
                <a:latin typeface="Segoe UI"/>
              </a:rPr>
              <a:t>DO  —  FALLBACK — If anything hangs: stop, say 'that's the worker queue, and it's honest — it's doing the reading', and move to Trace on already-confirmed records. Never apologise twice for the same pause.</a:t>
            </a:r>
          </a:p>
          <a:p/>
          <a:p>
            <a:r>
              <a:rPr sz="1200">
                <a:latin typeface="Segoe UI"/>
              </a:rPr>
              <a:t>TIME BUDGET: 9:00–14:00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"Seventy-nine per cent, and I want to be careful about that number because it is easy to make it say anything. It is measured against the specification as written — not against a plan we could quietly move. Partial counts as a half. Missing counts as a zero."</a:t>
            </a:r>
          </a:p>
          <a:p/>
          <a:p>
            <a:r>
              <a:rPr sz="1200">
                <a:latin typeface="Segoe UI"/>
              </a:rPr>
              <a:t>NOTICE DRAWLOGIX IS THE LOWEST AND ALSO THE STRONGEST. If asked: it has the most ambitious specification — IFC, clash, recognition — so it scores lowest while being the most impressive thing in the demo. Say that; it demonstrates the measure is honest rather than flattering.</a:t>
            </a:r>
          </a:p>
          <a:p/>
          <a:p>
            <a:r>
              <a:rPr sz="1200">
                <a:latin typeface="Segoe UI"/>
              </a:rPr>
              <a:t>TIME BUDGET: 14:00–15:10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Do not read the numbers aloud. Let the grid do it. Say the last sentence only.</a:t>
            </a:r>
          </a:p>
          <a:p/>
          <a:p>
            <a:r>
              <a:rPr sz="1200">
                <a:latin typeface="Segoe UI"/>
              </a:rPr>
              <a:t>SAY  —  "Every figure on this slide was queried this morning, from the repository and from the running production database. If any of them matters to your diligence, we will run the query in front of you rather than send you a spreadsheet."</a:t>
            </a:r>
          </a:p>
          <a:p/>
          <a:p>
            <a:r>
              <a:rPr sz="1200">
                <a:latin typeface="Segoe UI"/>
              </a:rPr>
              <a:t>TEST COUNT CONTEXT, IF ASKED: 982 passing, up from 426 two days earlier. Two failures in a local run are a MySQL configuration difference on the developer machine, not product defects — say so plainly if you are asked whether it is 982 or 984.</a:t>
            </a:r>
          </a:p>
          <a:p/>
          <a:p>
            <a:r>
              <a:rPr sz="1200">
                <a:latin typeface="Segoe UI"/>
              </a:rPr>
              <a:t>TIME BUDGET: 15:10–15:55  ·  Safe to compress if running long.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"I'm going to spend a full minute on what isn't finished, because you're going to find it anyway and I'd rather you heard it here. There are sixteen open P0s. These eight are the ones that matter to you specifically."</a:t>
            </a:r>
          </a:p>
          <a:p/>
          <a:p>
            <a:r>
              <a:rPr sz="1200">
                <a:latin typeface="Segoe UI"/>
              </a:rPr>
              <a:t>THEN DRAW THE DISTINCTION, CLEARLY: "Notice what these are and aren't. None of them is 'the chain doesn't work' or 'provenance is aspirational'. They're the operations layer — SSO, MFA, CI, staging, backups. Unglamorous, bounded, and exactly the kind of thing that gets fixed fast with a partner who has done it before."</a:t>
            </a:r>
          </a:p>
          <a:p/>
          <a:p>
            <a:r>
              <a:rPr sz="1200">
                <a:latin typeface="Segoe UI"/>
              </a:rPr>
              <a:t>DO  —  CRITICAL GUARDRAIL — The public website currently states SSO, encryption at rest and row-level security as LIVE. They are not. If anyone in the room has read the security page, correct it yourself before they raise it: 'our marketing site is ahead of the build on three of these and we're fixing the copy.' Getting caught on this costs the room.</a:t>
            </a:r>
          </a:p>
          <a:p/>
          <a:p>
            <a:r>
              <a:rPr sz="1200">
                <a:latin typeface="Segoe UI"/>
              </a:rPr>
              <a:t>DO  —  ALSO TRUE, SAY IT IF ASKED — The deployed database is MySQL, so tenant isolation is enforced in the repository layer rather than by Postgres row-level security. It is a deliberate, tested, documented divergence — not an oversight.</a:t>
            </a:r>
          </a:p>
          <a:p/>
          <a:p>
            <a:r>
              <a:rPr sz="1200">
                <a:latin typeface="Segoe UI"/>
              </a:rPr>
              <a:t>TIME BUDGET: 15:55–17:05  ·  NEVER CUT. This slide is why the meeting works.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"Shapes three and four are why the AI fabric exists in the form it does. If a module could call a provider directly, sovereign deployment would be a rewrite. Because everything goes through the fabric and every model is an alias, it's a routing configuration."</a:t>
            </a:r>
          </a:p>
          <a:p/>
          <a:p>
            <a:r>
              <a:rPr sz="1200">
                <a:latin typeface="Segoe UI"/>
              </a:rPr>
              <a:t>BE HONEST ABOUT MATURITY: SaaS and dedicated cloud are proven in the deployed system. Private and sovereign are architecturally supported and specified, not yet delivered to a customer. Say 'supported by the architecture, not yet delivered in anger' if pressed — do not imply a reference customer you don't have.</a:t>
            </a:r>
          </a:p>
          <a:p/>
          <a:p>
            <a:r>
              <a:rPr sz="1200">
                <a:latin typeface="Segoe UI"/>
              </a:rPr>
              <a:t>TIME BUDGET: 17:05–17:55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Thirty seconds. This slide exists to defuse the migration objection before the ask, not to be explored.</a:t>
            </a:r>
          </a:p>
          <a:p/>
          <a:p>
            <a:r>
              <a:rPr sz="1200">
                <a:latin typeface="Segoe UI"/>
              </a:rPr>
              <a:t>SAY  —  "There is no version of this where you turn something off in month one."</a:t>
            </a:r>
          </a:p>
          <a:p/>
          <a:p>
            <a:r>
              <a:rPr sz="1200">
                <a:latin typeface="Segoe UI"/>
              </a:rPr>
              <a:t>TIME BUDGET: 17:55–18:25  ·  FIRST TO CUT if running long — fold into one sentence on the deployment slide.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"Three things, and the third is the one that tells you how serious we are. We're not asking you to wait while we build SSO. We're asking for someone on your side to close that list with us, in the same six weeks as the pilot."</a:t>
            </a:r>
          </a:p>
          <a:p/>
          <a:p>
            <a:r>
              <a:rPr sz="1200">
                <a:latin typeface="Segoe UI"/>
              </a:rPr>
              <a:t>THE GOLDEN SET IS THE HIGHEST-LEVERAGE ASK IN THE DECK. A design set paired with its final priced BOQ is the single most valuable artifact a construction AI company can be given. Ask for it directly and do not soften it.</a:t>
            </a:r>
          </a:p>
          <a:p/>
          <a:p>
            <a:r>
              <a:rPr sz="1200">
                <a:latin typeface="Segoe UI"/>
              </a:rPr>
              <a:t>DO  —  Say the 'not asking for' panel out loud, all four. Ending on what you are NOT requesting lowers the cost of saying yes to the pilot.</a:t>
            </a:r>
          </a:p>
          <a:p/>
          <a:p>
            <a:r>
              <a:rPr sz="1200">
                <a:latin typeface="Segoe UI"/>
              </a:rPr>
              <a:t>TIME BUDGET: 18:25–19:15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Say the last three lines slowly. Then stop talking. Do not add anything, do not offer next steps, do not fill the silence. Let them ask the first question.</a:t>
            </a:r>
          </a:p>
          <a:p/>
          <a:p>
            <a:r>
              <a:rPr sz="1200">
                <a:latin typeface="Segoe UI"/>
              </a:rPr>
              <a:t>IF THE SILENCE RUNS LONG, the only acceptable line is: "What would you want to test first?" Anything else undoes the close.</a:t>
            </a:r>
          </a:p>
          <a:p/>
          <a:p>
            <a:r>
              <a:rPr sz="1200">
                <a:latin typeface="Segoe UI"/>
              </a:rPr>
              <a:t>DO  —  NEVER GUESS AN ANSWER — "Not today. Tell me what that would let you do and I'll find out where it sits." That sentence costs nothing. Guessing costs the deal about a week after they sign.</a:t>
            </a:r>
          </a:p>
          <a:p/>
          <a:p>
            <a:r>
              <a:rPr sz="1200">
                <a:latin typeface="Segoe UI"/>
              </a:rPr>
              <a:t>TIME BUDGET: 19:15–20:00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10874959" cy="274320"/>
          </a:xfrm>
          <a:prstGeom prst="rect">
            <a:avLst/>
          </a:prstGeom>
          <a:noFill/>
        </p:spPr>
        <p:txBody>
          <a:bodyPr wrap="square" anchor="t" lIns="0" rIns="0" tIns="0" bIns="0">
            <a:spAutoFit/>
          </a:bodyPr>
          <a:lstStyle/>
          <a:p>
            <a:pPr>
              <a:spcBef>
                <a:spcPts val="0"/>
              </a:spcBef>
              <a:spcAft>
                <a:spcPts val="0"/>
              </a:spcAft>
            </a:pPr>
            <a:r>
              <a:rPr sz="900" b="0" i="0" spc="160">
                <a:solidFill>
                  <a:srgbClr val="7A939E"/>
                </a:solidFill>
                <a:latin typeface="Consolas"/>
              </a:rPr>
              <a:t>ENTERPRISE TECHNICAL BRIEFING  </a:t>
            </a:r>
            <a:r>
              <a:rPr sz="900" b="1" i="0" spc="160">
                <a:solidFill>
                  <a:srgbClr val="3EDCC2"/>
                </a:solidFill>
                <a:latin typeface="Consolas"/>
              </a:rPr>
              <a:t>·  CONFIDENTIAL</a:t>
            </a:r>
          </a:p>
        </p:txBody>
      </p:sp>
      <p:sp>
        <p:nvSpPr>
          <p:cNvPr id="4" name="TextBox 3"/>
          <p:cNvSpPr txBox="1"/>
          <p:nvPr/>
        </p:nvSpPr>
        <p:spPr>
          <a:xfrm>
            <a:off x="658368" y="1874519"/>
            <a:ext cx="10874959" cy="1188720"/>
          </a:xfrm>
          <a:prstGeom prst="rect">
            <a:avLst/>
          </a:prstGeom>
          <a:noFill/>
        </p:spPr>
        <p:txBody>
          <a:bodyPr wrap="square" anchor="t" lIns="0" rIns="0" tIns="0" bIns="0">
            <a:spAutoFit/>
          </a:bodyPr>
          <a:lstStyle/>
          <a:p>
            <a:pPr>
              <a:lnSpc>
                <a:spcPct val="100000"/>
              </a:lnSpc>
              <a:spcBef>
                <a:spcPts val="0"/>
              </a:spcBef>
              <a:spcAft>
                <a:spcPts val="0"/>
              </a:spcAft>
            </a:pPr>
            <a:r>
              <a:rPr sz="6600" b="1" i="0">
                <a:solidFill>
                  <a:srgbClr val="E9F2F4"/>
                </a:solidFill>
                <a:latin typeface="Segoe UI"/>
              </a:rPr>
              <a:t>Preck</a:t>
            </a:r>
            <a:r>
              <a:rPr sz="6600" b="1" i="0">
                <a:solidFill>
                  <a:srgbClr val="3EDCC2"/>
                </a:solidFill>
                <a:latin typeface="Segoe UI"/>
              </a:rPr>
              <a:t>o</a:t>
            </a:r>
            <a:r>
              <a:rPr sz="6600" b="1" i="0">
                <a:solidFill>
                  <a:srgbClr val="E9F2F4"/>
                </a:solidFill>
                <a:latin typeface="Segoe UI"/>
              </a:rPr>
              <a:t>n</a:t>
            </a:r>
          </a:p>
        </p:txBody>
      </p:sp>
      <p:sp>
        <p:nvSpPr>
          <p:cNvPr id="5" name="TextBox 4"/>
          <p:cNvSpPr txBox="1"/>
          <p:nvPr/>
        </p:nvSpPr>
        <p:spPr>
          <a:xfrm>
            <a:off x="658368" y="3246120"/>
            <a:ext cx="6949440" cy="1280160"/>
          </a:xfrm>
          <a:prstGeom prst="rect">
            <a:avLst/>
          </a:prstGeom>
          <a:noFill/>
        </p:spPr>
        <p:txBody>
          <a:bodyPr wrap="square" anchor="t" lIns="0" rIns="0" tIns="0" bIns="0">
            <a:spAutoFit/>
          </a:bodyPr>
          <a:lstStyle/>
          <a:p>
            <a:pPr>
              <a:lnSpc>
                <a:spcPct val="142000"/>
              </a:lnSpc>
              <a:spcBef>
                <a:spcPts val="0"/>
              </a:spcBef>
              <a:spcAft>
                <a:spcPts val="0"/>
              </a:spcAft>
            </a:pPr>
            <a:r>
              <a:rPr sz="1700" b="0" i="0">
                <a:solidFill>
                  <a:srgbClr val="A8C0C8"/>
                </a:solidFill>
                <a:latin typeface="Segoe UI"/>
              </a:rPr>
              <a:t>An AI-native construction operating system where every number can name the document, the drawing layer, or the person it came from.</a:t>
            </a:r>
          </a:p>
        </p:txBody>
      </p:sp>
      <p:sp>
        <p:nvSpPr>
          <p:cNvPr id="6" name="Rectangle 5"/>
          <p:cNvSpPr/>
          <p:nvPr/>
        </p:nvSpPr>
        <p:spPr>
          <a:xfrm>
            <a:off x="658368" y="58978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080760"/>
            <a:ext cx="5029200" cy="274320"/>
          </a:xfrm>
          <a:prstGeom prst="rect">
            <a:avLst/>
          </a:prstGeom>
          <a:noFill/>
        </p:spPr>
        <p:txBody>
          <a:bodyPr wrap="square" anchor="t" lIns="0" rIns="0" tIns="0" bIns="0">
            <a:spAutoFit/>
          </a:bodyPr>
          <a:lstStyle/>
          <a:p>
            <a:pPr>
              <a:spcBef>
                <a:spcPts val="0"/>
              </a:spcBef>
              <a:spcAft>
                <a:spcPts val="0"/>
              </a:spcAft>
            </a:pPr>
            <a:r>
              <a:rPr sz="900" b="0" i="0" spc="120">
                <a:solidFill>
                  <a:srgbClr val="7A939E"/>
                </a:solidFill>
                <a:latin typeface="Consolas"/>
              </a:rPr>
              <a:t>TECHSME  ·  21 AUGUST 2026</a:t>
            </a:r>
          </a:p>
        </p:txBody>
      </p:sp>
      <p:sp>
        <p:nvSpPr>
          <p:cNvPr id="8" name="TextBox 7"/>
          <p:cNvSpPr txBox="1"/>
          <p:nvPr/>
        </p:nvSpPr>
        <p:spPr>
          <a:xfrm>
            <a:off x="6504127" y="6080760"/>
            <a:ext cx="5029200" cy="274320"/>
          </a:xfrm>
          <a:prstGeom prst="rect">
            <a:avLst/>
          </a:prstGeom>
          <a:noFill/>
        </p:spPr>
        <p:txBody>
          <a:bodyPr wrap="square" anchor="t" lIns="0" rIns="0" tIns="0" bIns="0">
            <a:spAutoFit/>
          </a:bodyPr>
          <a:lstStyle/>
          <a:p>
            <a:pPr algn="r"/>
            <a:r>
              <a:rPr sz="900" b="0" i="0" spc="120">
                <a:solidFill>
                  <a:srgbClr val="7A939E"/>
                </a:solidFill>
                <a:latin typeface="Consolas"/>
              </a:rPr>
              <a:t>20 MINUTES  ·  LIVE WORKSPACE 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THE PROBLEM  </a:t>
            </a:r>
            <a:r>
              <a:rPr sz="900" b="1" i="0" spc="140">
                <a:solidFill>
                  <a:srgbClr val="3EDCC2"/>
                </a:solidFill>
                <a:latin typeface="Consolas"/>
              </a:rPr>
              <a:t>01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869948"/>
            <a:ext cx="4114800" cy="1463040"/>
          </a:xfrm>
          <a:prstGeom prst="rect">
            <a:avLst/>
          </a:prstGeom>
          <a:noFill/>
        </p:spPr>
        <p:txBody>
          <a:bodyPr wrap="square" anchor="t" lIns="0" rIns="0" tIns="0" bIns="0">
            <a:spAutoFit/>
          </a:bodyPr>
          <a:lstStyle/>
          <a:p>
            <a:pPr>
              <a:lnSpc>
                <a:spcPct val="112000"/>
              </a:lnSpc>
              <a:spcBef>
                <a:spcPts val="0"/>
              </a:spcBef>
              <a:spcAft>
                <a:spcPts val="0"/>
              </a:spcAft>
            </a:pPr>
            <a:r>
              <a:rPr sz="2700" b="1" i="0">
                <a:solidFill>
                  <a:srgbClr val="E9F2F4"/>
                </a:solidFill>
                <a:latin typeface="Segoe UI"/>
              </a:rPr>
              <a:t>The most consequential number your business produces is the least governed one.</a:t>
            </a:r>
          </a:p>
        </p:txBody>
      </p:sp>
      <p:sp>
        <p:nvSpPr>
          <p:cNvPr id="6" name="TextBox 5"/>
          <p:cNvSpPr txBox="1"/>
          <p:nvPr/>
        </p:nvSpPr>
        <p:spPr>
          <a:xfrm>
            <a:off x="5074920" y="1869948"/>
            <a:ext cx="6455664" cy="1371600"/>
          </a:xfrm>
          <a:prstGeom prst="rect">
            <a:avLst/>
          </a:prstGeom>
          <a:noFill/>
        </p:spPr>
        <p:txBody>
          <a:bodyPr wrap="square" anchor="t" lIns="0" rIns="0" tIns="0" bIns="0">
            <a:spAutoFit/>
          </a:bodyPr>
          <a:lstStyle/>
          <a:p>
            <a:pPr>
              <a:lnSpc>
                <a:spcPct val="142000"/>
              </a:lnSpc>
              <a:spcBef>
                <a:spcPts val="0"/>
              </a:spcBef>
              <a:spcAft>
                <a:spcPts val="700"/>
              </a:spcAft>
            </a:pPr>
            <a:r>
              <a:rPr sz="1350" b="0" i="0">
                <a:solidFill>
                  <a:srgbClr val="A8C0C8"/>
                </a:solidFill>
                <a:latin typeface="Segoe UI"/>
              </a:rPr>
              <a:t>A tender price commits the company for years. It is produced in </a:t>
            </a:r>
            <a:r>
              <a:rPr sz="1350" b="1" i="0">
                <a:solidFill>
                  <a:srgbClr val="E9F2F4"/>
                </a:solidFill>
                <a:latin typeface="Segoe UI"/>
              </a:rPr>
              <a:t>two to six weeks</a:t>
            </a:r>
            <a:r>
              <a:rPr sz="1350" b="0" i="0">
                <a:solidFill>
                  <a:srgbClr val="A8C0C8"/>
                </a:solidFill>
                <a:latin typeface="Segoe UI"/>
              </a:rPr>
              <a:t>, by one senior estimator, in spreadsheets, from marked-up PDFs — and when it is questioned in a post-tender meeting, the answer comes from memory.</a:t>
            </a:r>
          </a:p>
        </p:txBody>
      </p:sp>
      <p:sp>
        <p:nvSpPr>
          <p:cNvPr id="7" name="Rounded Rectangle 6"/>
          <p:cNvSpPr/>
          <p:nvPr/>
        </p:nvSpPr>
        <p:spPr>
          <a:xfrm>
            <a:off x="5074920" y="3515868"/>
            <a:ext cx="2066543" cy="12344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230368" y="3653027"/>
            <a:ext cx="1755647" cy="96012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CONCENTRATION</a:t>
            </a:r>
          </a:p>
          <a:p>
            <a:pPr>
              <a:lnSpc>
                <a:spcPct val="138000"/>
              </a:lnSpc>
              <a:spcBef>
                <a:spcPts val="0"/>
              </a:spcBef>
              <a:spcAft>
                <a:spcPts val="0"/>
              </a:spcAft>
            </a:pPr>
            <a:r>
              <a:rPr sz="1050" b="0" i="0">
                <a:solidFill>
                  <a:srgbClr val="A8C0C8"/>
                </a:solidFill>
                <a:latin typeface="Segoe UI"/>
              </a:rPr>
              <a:t>The method lives in one person's head. It leaves when they do.</a:t>
            </a:r>
          </a:p>
        </p:txBody>
      </p:sp>
      <p:sp>
        <p:nvSpPr>
          <p:cNvPr id="9" name="Rounded Rectangle 8"/>
          <p:cNvSpPr/>
          <p:nvPr/>
        </p:nvSpPr>
        <p:spPr>
          <a:xfrm>
            <a:off x="7269479" y="3515868"/>
            <a:ext cx="2066543" cy="12344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24927" y="3653027"/>
            <a:ext cx="1755647" cy="96012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OPACITY</a:t>
            </a:r>
          </a:p>
          <a:p>
            <a:pPr>
              <a:lnSpc>
                <a:spcPct val="138000"/>
              </a:lnSpc>
              <a:spcBef>
                <a:spcPts val="0"/>
              </a:spcBef>
              <a:spcAft>
                <a:spcPts val="0"/>
              </a:spcAft>
            </a:pPr>
            <a:r>
              <a:rPr sz="1050" b="0" i="0">
                <a:solidFill>
                  <a:srgbClr val="A8C0C8"/>
                </a:solidFill>
                <a:latin typeface="Segoe UI"/>
              </a:rPr>
              <a:t>No trail from a number back to the drawing it was measured off.</a:t>
            </a:r>
          </a:p>
        </p:txBody>
      </p:sp>
      <p:sp>
        <p:nvSpPr>
          <p:cNvPr id="11" name="Rounded Rectangle 10"/>
          <p:cNvSpPr/>
          <p:nvPr/>
        </p:nvSpPr>
        <p:spPr>
          <a:xfrm>
            <a:off x="9464040" y="3515868"/>
            <a:ext cx="2066543" cy="12344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19488" y="3653027"/>
            <a:ext cx="1755647" cy="96012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LATENCY</a:t>
            </a:r>
          </a:p>
          <a:p>
            <a:pPr>
              <a:lnSpc>
                <a:spcPct val="138000"/>
              </a:lnSpc>
              <a:spcBef>
                <a:spcPts val="0"/>
              </a:spcBef>
              <a:spcAft>
                <a:spcPts val="0"/>
              </a:spcAft>
            </a:pPr>
            <a:r>
              <a:rPr sz="1050" b="0" i="0">
                <a:solidFill>
                  <a:srgbClr val="A8C0C8"/>
                </a:solidFill>
                <a:latin typeface="Segoe UI"/>
              </a:rPr>
              <a:t>The cycle is longer than the bid window, so scope gets thinner.</a:t>
            </a:r>
          </a:p>
        </p:txBody>
      </p:sp>
      <p:sp>
        <p:nvSpPr>
          <p:cNvPr id="13" name="TextBox 12"/>
          <p:cNvSpPr txBox="1"/>
          <p:nvPr/>
        </p:nvSpPr>
        <p:spPr>
          <a:xfrm>
            <a:off x="5074920" y="4951476"/>
            <a:ext cx="6455664" cy="548640"/>
          </a:xfrm>
          <a:prstGeom prst="rect">
            <a:avLst/>
          </a:prstGeom>
          <a:noFill/>
        </p:spPr>
        <p:txBody>
          <a:bodyPr wrap="square" anchor="t" lIns="0" rIns="0" tIns="0" bIns="0">
            <a:spAutoFit/>
          </a:bodyPr>
          <a:lstStyle/>
          <a:p>
            <a:pPr>
              <a:lnSpc>
                <a:spcPct val="140000"/>
              </a:lnSpc>
              <a:spcBef>
                <a:spcPts val="0"/>
              </a:spcBef>
              <a:spcAft>
                <a:spcPts val="0"/>
              </a:spcAft>
            </a:pPr>
            <a:r>
              <a:rPr sz="1100" b="0" i="0">
                <a:solidFill>
                  <a:srgbClr val="7A939E"/>
                </a:solidFill>
                <a:latin typeface="Segoe UI"/>
              </a:rPr>
              <a:t>Every other business-critical number you hold — payroll, ledger, inventory — sits in a system with an audit trail. The estimate does 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WHERE EVERYONE ELSE STOPS  </a:t>
            </a:r>
            <a:r>
              <a:rPr sz="900" b="1" i="0" spc="140">
                <a:solidFill>
                  <a:srgbClr val="3EDCC2"/>
                </a:solidFill>
                <a:latin typeface="Consolas"/>
              </a:rPr>
              <a:t>02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156716"/>
            <a:ext cx="987552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The preconstruction chain has five stages. Almost every tool owns one.</a:t>
            </a:r>
          </a:p>
        </p:txBody>
      </p:sp>
      <p:sp>
        <p:nvSpPr>
          <p:cNvPr id="6" name="TextBox 5"/>
          <p:cNvSpPr txBox="1"/>
          <p:nvPr/>
        </p:nvSpPr>
        <p:spPr>
          <a:xfrm>
            <a:off x="2532887" y="2436876"/>
            <a:ext cx="1745223" cy="219456"/>
          </a:xfrm>
          <a:prstGeom prst="rect">
            <a:avLst/>
          </a:prstGeom>
          <a:noFill/>
        </p:spPr>
        <p:txBody>
          <a:bodyPr wrap="square" anchor="t" lIns="0" rIns="0" tIns="0" bIns="0">
            <a:spAutoFit/>
          </a:bodyPr>
          <a:lstStyle/>
          <a:p>
            <a:pPr algn="ctr"/>
            <a:r>
              <a:rPr sz="850" b="0" i="0" spc="110">
                <a:solidFill>
                  <a:srgbClr val="7A939E"/>
                </a:solidFill>
                <a:latin typeface="Consolas"/>
              </a:rPr>
              <a:t>DOCUMENTS</a:t>
            </a:r>
          </a:p>
        </p:txBody>
      </p:sp>
      <p:sp>
        <p:nvSpPr>
          <p:cNvPr id="7" name="TextBox 6"/>
          <p:cNvSpPr txBox="1"/>
          <p:nvPr/>
        </p:nvSpPr>
        <p:spPr>
          <a:xfrm>
            <a:off x="4332975" y="2436876"/>
            <a:ext cx="1745223" cy="219456"/>
          </a:xfrm>
          <a:prstGeom prst="rect">
            <a:avLst/>
          </a:prstGeom>
          <a:noFill/>
        </p:spPr>
        <p:txBody>
          <a:bodyPr wrap="square" anchor="t" lIns="0" rIns="0" tIns="0" bIns="0">
            <a:spAutoFit/>
          </a:bodyPr>
          <a:lstStyle/>
          <a:p>
            <a:pPr algn="ctr"/>
            <a:r>
              <a:rPr sz="850" b="0" i="0" spc="110">
                <a:solidFill>
                  <a:srgbClr val="7A939E"/>
                </a:solidFill>
                <a:latin typeface="Consolas"/>
              </a:rPr>
              <a:t>TAKEOFF</a:t>
            </a:r>
          </a:p>
        </p:txBody>
      </p:sp>
      <p:sp>
        <p:nvSpPr>
          <p:cNvPr id="8" name="TextBox 7"/>
          <p:cNvSpPr txBox="1"/>
          <p:nvPr/>
        </p:nvSpPr>
        <p:spPr>
          <a:xfrm>
            <a:off x="6133063" y="2436876"/>
            <a:ext cx="1745223" cy="219456"/>
          </a:xfrm>
          <a:prstGeom prst="rect">
            <a:avLst/>
          </a:prstGeom>
          <a:noFill/>
        </p:spPr>
        <p:txBody>
          <a:bodyPr wrap="square" anchor="t" lIns="0" rIns="0" tIns="0" bIns="0">
            <a:spAutoFit/>
          </a:bodyPr>
          <a:lstStyle/>
          <a:p>
            <a:pPr algn="ctr"/>
            <a:r>
              <a:rPr sz="850" b="0" i="0" spc="110">
                <a:solidFill>
                  <a:srgbClr val="7A939E"/>
                </a:solidFill>
                <a:latin typeface="Consolas"/>
              </a:rPr>
              <a:t>BOQ</a:t>
            </a:r>
          </a:p>
        </p:txBody>
      </p:sp>
      <p:sp>
        <p:nvSpPr>
          <p:cNvPr id="9" name="TextBox 8"/>
          <p:cNvSpPr txBox="1"/>
          <p:nvPr/>
        </p:nvSpPr>
        <p:spPr>
          <a:xfrm>
            <a:off x="7933151" y="2436876"/>
            <a:ext cx="1745223" cy="219456"/>
          </a:xfrm>
          <a:prstGeom prst="rect">
            <a:avLst/>
          </a:prstGeom>
          <a:noFill/>
        </p:spPr>
        <p:txBody>
          <a:bodyPr wrap="square" anchor="t" lIns="0" rIns="0" tIns="0" bIns="0">
            <a:spAutoFit/>
          </a:bodyPr>
          <a:lstStyle/>
          <a:p>
            <a:pPr algn="ctr"/>
            <a:r>
              <a:rPr sz="850" b="0" i="0" spc="110">
                <a:solidFill>
                  <a:srgbClr val="7A939E"/>
                </a:solidFill>
                <a:latin typeface="Consolas"/>
              </a:rPr>
              <a:t>ESTIMATE</a:t>
            </a:r>
          </a:p>
        </p:txBody>
      </p:sp>
      <p:sp>
        <p:nvSpPr>
          <p:cNvPr id="10" name="TextBox 9"/>
          <p:cNvSpPr txBox="1"/>
          <p:nvPr/>
        </p:nvSpPr>
        <p:spPr>
          <a:xfrm>
            <a:off x="9733239" y="2436876"/>
            <a:ext cx="1745223" cy="219456"/>
          </a:xfrm>
          <a:prstGeom prst="rect">
            <a:avLst/>
          </a:prstGeom>
          <a:noFill/>
        </p:spPr>
        <p:txBody>
          <a:bodyPr wrap="square" anchor="t" lIns="0" rIns="0" tIns="0" bIns="0">
            <a:spAutoFit/>
          </a:bodyPr>
          <a:lstStyle/>
          <a:p>
            <a:pPr algn="ctr"/>
            <a:r>
              <a:rPr sz="850" b="0" i="0" spc="110">
                <a:solidFill>
                  <a:srgbClr val="7A939E"/>
                </a:solidFill>
                <a:latin typeface="Consolas"/>
              </a:rPr>
              <a:t>PROCUREMENT</a:t>
            </a:r>
          </a:p>
        </p:txBody>
      </p:sp>
      <p:sp>
        <p:nvSpPr>
          <p:cNvPr id="11" name="TextBox 10"/>
          <p:cNvSpPr txBox="1"/>
          <p:nvPr/>
        </p:nvSpPr>
        <p:spPr>
          <a:xfrm>
            <a:off x="658368" y="2729484"/>
            <a:ext cx="1783080" cy="402336"/>
          </a:xfrm>
          <a:prstGeom prst="rect">
            <a:avLst/>
          </a:prstGeom>
          <a:noFill/>
        </p:spPr>
        <p:txBody>
          <a:bodyPr wrap="square" anchor="t" lIns="0" rIns="0" tIns="0" bIns="0">
            <a:spAutoFit/>
          </a:bodyPr>
          <a:lstStyle/>
          <a:p>
            <a:pPr algn="r"/>
            <a:r>
              <a:rPr sz="1050" b="0" i="0">
                <a:solidFill>
                  <a:srgbClr val="A8C0C8"/>
                </a:solidFill>
                <a:latin typeface="Segoe UI"/>
              </a:rPr>
              <a:t>Takeoff tools</a:t>
            </a:r>
          </a:p>
          <a:p>
            <a:pPr algn="r">
              <a:spcBef>
                <a:spcPts val="100"/>
              </a:spcBef>
              <a:spcAft>
                <a:spcPts val="0"/>
              </a:spcAft>
            </a:pPr>
            <a:r>
              <a:rPr sz="800" b="0" i="0">
                <a:solidFill>
                  <a:srgbClr val="556E79"/>
                </a:solidFill>
                <a:latin typeface="Consolas"/>
              </a:rPr>
              <a:t>Togal · Kreo · Beam</a:t>
            </a:r>
          </a:p>
        </p:txBody>
      </p:sp>
      <p:sp>
        <p:nvSpPr>
          <p:cNvPr id="12" name="Rounded Rectangle 11"/>
          <p:cNvSpPr/>
          <p:nvPr/>
        </p:nvSpPr>
        <p:spPr>
          <a:xfrm>
            <a:off x="2532887" y="2711196"/>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4332975" y="2711196"/>
            <a:ext cx="1745223" cy="292608"/>
          </a:xfrm>
          <a:prstGeom prst="roundRect">
            <a:avLst>
              <a:gd name="adj" fmla="val 9000"/>
            </a:avLst>
          </a:prstGeom>
          <a:solidFill>
            <a:srgbClr val="2A4C58"/>
          </a:solidFill>
          <a:ln w="9525">
            <a:solidFill>
              <a:srgbClr val="2A4C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133063" y="2711196"/>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7933151" y="2711196"/>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9733239" y="2711196"/>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368" y="3204972"/>
            <a:ext cx="1783080" cy="402336"/>
          </a:xfrm>
          <a:prstGeom prst="rect">
            <a:avLst/>
          </a:prstGeom>
          <a:noFill/>
        </p:spPr>
        <p:txBody>
          <a:bodyPr wrap="square" anchor="t" lIns="0" rIns="0" tIns="0" bIns="0">
            <a:spAutoFit/>
          </a:bodyPr>
          <a:lstStyle/>
          <a:p>
            <a:pPr algn="r"/>
            <a:r>
              <a:rPr sz="1050" b="0" i="0">
                <a:solidFill>
                  <a:srgbClr val="A8C0C8"/>
                </a:solidFill>
                <a:latin typeface="Segoe UI"/>
              </a:rPr>
              <a:t>Estimating</a:t>
            </a:r>
          </a:p>
          <a:p>
            <a:pPr algn="r">
              <a:spcBef>
                <a:spcPts val="100"/>
              </a:spcBef>
              <a:spcAft>
                <a:spcPts val="0"/>
              </a:spcAft>
            </a:pPr>
            <a:r>
              <a:rPr sz="800" b="0" i="0">
                <a:solidFill>
                  <a:srgbClr val="556E79"/>
                </a:solidFill>
                <a:latin typeface="Consolas"/>
              </a:rPr>
              <a:t>CostX and peers</a:t>
            </a:r>
          </a:p>
        </p:txBody>
      </p:sp>
      <p:sp>
        <p:nvSpPr>
          <p:cNvPr id="18" name="Rounded Rectangle 17"/>
          <p:cNvSpPr/>
          <p:nvPr/>
        </p:nvSpPr>
        <p:spPr>
          <a:xfrm>
            <a:off x="2532887" y="3186684"/>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4332975" y="3186684"/>
            <a:ext cx="1745223" cy="292608"/>
          </a:xfrm>
          <a:prstGeom prst="roundRect">
            <a:avLst>
              <a:gd name="adj" fmla="val 9000"/>
            </a:avLst>
          </a:prstGeom>
          <a:solidFill>
            <a:srgbClr val="1E3842"/>
          </a:solidFill>
          <a:ln w="9525">
            <a:solidFill>
              <a:srgbClr val="2A4C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133063" y="3186684"/>
            <a:ext cx="1745223" cy="292608"/>
          </a:xfrm>
          <a:prstGeom prst="roundRect">
            <a:avLst>
              <a:gd name="adj" fmla="val 9000"/>
            </a:avLst>
          </a:prstGeom>
          <a:solidFill>
            <a:srgbClr val="1E3842"/>
          </a:solidFill>
          <a:ln w="9525">
            <a:solidFill>
              <a:srgbClr val="2A4C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7933151" y="3186684"/>
            <a:ext cx="1745223" cy="292608"/>
          </a:xfrm>
          <a:prstGeom prst="roundRect">
            <a:avLst>
              <a:gd name="adj" fmla="val 9000"/>
            </a:avLst>
          </a:prstGeom>
          <a:solidFill>
            <a:srgbClr val="2A4C58"/>
          </a:solidFill>
          <a:ln w="9525">
            <a:solidFill>
              <a:srgbClr val="2A4C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9733239" y="3186684"/>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8368" y="3680460"/>
            <a:ext cx="1783080" cy="402336"/>
          </a:xfrm>
          <a:prstGeom prst="rect">
            <a:avLst/>
          </a:prstGeom>
          <a:noFill/>
        </p:spPr>
        <p:txBody>
          <a:bodyPr wrap="square" anchor="t" lIns="0" rIns="0" tIns="0" bIns="0">
            <a:spAutoFit/>
          </a:bodyPr>
          <a:lstStyle/>
          <a:p>
            <a:pPr algn="r"/>
            <a:r>
              <a:rPr sz="1050" b="0" i="0">
                <a:solidFill>
                  <a:srgbClr val="A8C0C8"/>
                </a:solidFill>
                <a:latin typeface="Segoe UI"/>
              </a:rPr>
              <a:t>PM platforms</a:t>
            </a:r>
          </a:p>
          <a:p>
            <a:pPr algn="r">
              <a:spcBef>
                <a:spcPts val="100"/>
              </a:spcBef>
              <a:spcAft>
                <a:spcPts val="0"/>
              </a:spcAft>
            </a:pPr>
            <a:r>
              <a:rPr sz="800" b="0" i="0">
                <a:solidFill>
                  <a:srgbClr val="556E79"/>
                </a:solidFill>
                <a:latin typeface="Consolas"/>
              </a:rPr>
              <a:t>Procore · RDash</a:t>
            </a:r>
          </a:p>
        </p:txBody>
      </p:sp>
      <p:sp>
        <p:nvSpPr>
          <p:cNvPr id="24" name="Rounded Rectangle 23"/>
          <p:cNvSpPr/>
          <p:nvPr/>
        </p:nvSpPr>
        <p:spPr>
          <a:xfrm>
            <a:off x="2532887" y="3662172"/>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32975" y="3662172"/>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133063" y="3662172"/>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7933151" y="3662172"/>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9733239" y="3662172"/>
            <a:ext cx="1745223" cy="292608"/>
          </a:xfrm>
          <a:prstGeom prst="roundRect">
            <a:avLst>
              <a:gd name="adj" fmla="val 9000"/>
            </a:avLst>
          </a:prstGeom>
          <a:solidFill>
            <a:srgbClr val="1E3842"/>
          </a:solidFill>
          <a:ln w="9525">
            <a:solidFill>
              <a:srgbClr val="2A4C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58368" y="4155948"/>
            <a:ext cx="1783080" cy="402336"/>
          </a:xfrm>
          <a:prstGeom prst="rect">
            <a:avLst/>
          </a:prstGeom>
          <a:noFill/>
        </p:spPr>
        <p:txBody>
          <a:bodyPr wrap="square" anchor="t" lIns="0" rIns="0" tIns="0" bIns="0">
            <a:spAutoFit/>
          </a:bodyPr>
          <a:lstStyle/>
          <a:p>
            <a:pPr algn="r"/>
            <a:r>
              <a:rPr sz="1200" b="1" i="0">
                <a:solidFill>
                  <a:srgbClr val="E9F2F4"/>
                </a:solidFill>
                <a:latin typeface="Segoe UI"/>
              </a:rPr>
              <a:t>Preckon</a:t>
            </a:r>
          </a:p>
        </p:txBody>
      </p:sp>
      <p:sp>
        <p:nvSpPr>
          <p:cNvPr id="30" name="Rounded Rectangle 29"/>
          <p:cNvSpPr/>
          <p:nvPr/>
        </p:nvSpPr>
        <p:spPr>
          <a:xfrm>
            <a:off x="2532887" y="4137660"/>
            <a:ext cx="1745223" cy="292608"/>
          </a:xfrm>
          <a:prstGeom prst="roundRect">
            <a:avLst>
              <a:gd name="adj" fmla="val 9000"/>
            </a:avLst>
          </a:prstGeom>
          <a:solidFill>
            <a:srgbClr val="3EDCC2"/>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4332975" y="4137660"/>
            <a:ext cx="1745223" cy="292608"/>
          </a:xfrm>
          <a:prstGeom prst="roundRect">
            <a:avLst>
              <a:gd name="adj" fmla="val 9000"/>
            </a:avLst>
          </a:prstGeom>
          <a:solidFill>
            <a:srgbClr val="3EDCC2"/>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6133063" y="4137660"/>
            <a:ext cx="1745223" cy="292608"/>
          </a:xfrm>
          <a:prstGeom prst="roundRect">
            <a:avLst>
              <a:gd name="adj" fmla="val 9000"/>
            </a:avLst>
          </a:prstGeom>
          <a:solidFill>
            <a:srgbClr val="3EDCC2"/>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7933151" y="4137660"/>
            <a:ext cx="1745223" cy="292608"/>
          </a:xfrm>
          <a:prstGeom prst="roundRect">
            <a:avLst>
              <a:gd name="adj" fmla="val 9000"/>
            </a:avLst>
          </a:prstGeom>
          <a:solidFill>
            <a:srgbClr val="3EDCC2"/>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9733239" y="4137660"/>
            <a:ext cx="1745223" cy="292608"/>
          </a:xfrm>
          <a:prstGeom prst="roundRect">
            <a:avLst>
              <a:gd name="adj" fmla="val 9000"/>
            </a:avLst>
          </a:prstGeom>
          <a:solidFill>
            <a:srgbClr val="3EDCC2"/>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58368" y="4978908"/>
            <a:ext cx="22860" cy="566928"/>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4978908"/>
            <a:ext cx="8631936" cy="914400"/>
          </a:xfrm>
          <a:prstGeom prst="rect">
            <a:avLst/>
          </a:prstGeom>
          <a:noFill/>
        </p:spPr>
        <p:txBody>
          <a:bodyPr wrap="square" anchor="t" lIns="0" rIns="0" tIns="0" bIns="0">
            <a:spAutoFit/>
          </a:bodyPr>
          <a:lstStyle/>
          <a:p>
            <a:pPr>
              <a:lnSpc>
                <a:spcPct val="140000"/>
              </a:lnSpc>
              <a:spcBef>
                <a:spcPts val="0"/>
              </a:spcBef>
              <a:spcAft>
                <a:spcPts val="0"/>
              </a:spcAft>
            </a:pPr>
            <a:r>
              <a:rPr sz="1600" b="0" i="1">
                <a:solidFill>
                  <a:srgbClr val="E9F2F4"/>
                </a:solidFill>
                <a:latin typeface="Georgia"/>
              </a:rPr>
              <a:t>Everyone sells a stage. The cost, the delay and the lost provenance are all in the joins between them.</a:t>
            </a:r>
          </a:p>
        </p:txBody>
      </p:sp>
      <p:sp>
        <p:nvSpPr>
          <p:cNvPr id="37" name="TextBox 36"/>
          <p:cNvSpPr txBox="1"/>
          <p:nvPr/>
        </p:nvSpPr>
        <p:spPr>
          <a:xfrm>
            <a:off x="658368" y="5939028"/>
            <a:ext cx="10874959" cy="274320"/>
          </a:xfrm>
          <a:prstGeom prst="rect">
            <a:avLst/>
          </a:prstGeom>
          <a:noFill/>
        </p:spPr>
        <p:txBody>
          <a:bodyPr wrap="square" anchor="t" lIns="0" rIns="0" tIns="0" bIns="0">
            <a:spAutoFit/>
          </a:bodyPr>
          <a:lstStyle/>
          <a:p>
            <a:pPr>
              <a:spcBef>
                <a:spcPts val="0"/>
              </a:spcBef>
              <a:spcAft>
                <a:spcPts val="0"/>
              </a:spcAft>
            </a:pPr>
            <a:r>
              <a:rPr sz="900" b="0" i="0" spc="80">
                <a:solidFill>
                  <a:srgbClr val="556E79"/>
                </a:solidFill>
                <a:latin typeface="Consolas"/>
              </a:rPr>
              <a:t>SOLID = OWNS THE STAGE    ·    MID-TONE = DOES IT, BUT MANUALLY    ·    OUTLINE = DOESN'T REACH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WHAT PRECKON IS  </a:t>
            </a:r>
            <a:r>
              <a:rPr sz="900" b="1" i="0" spc="140">
                <a:solidFill>
                  <a:srgbClr val="3EDCC2"/>
                </a:solidFill>
                <a:latin typeface="Consolas"/>
              </a:rPr>
              <a:t>03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897380"/>
            <a:ext cx="4114800" cy="1463040"/>
          </a:xfrm>
          <a:prstGeom prst="rect">
            <a:avLst/>
          </a:prstGeom>
          <a:noFill/>
        </p:spPr>
        <p:txBody>
          <a:bodyPr wrap="square" anchor="t" lIns="0" rIns="0" tIns="0" bIns="0">
            <a:spAutoFit/>
          </a:bodyPr>
          <a:lstStyle/>
          <a:p>
            <a:pPr>
              <a:lnSpc>
                <a:spcPct val="112000"/>
              </a:lnSpc>
              <a:spcBef>
                <a:spcPts val="0"/>
              </a:spcBef>
              <a:spcAft>
                <a:spcPts val="0"/>
              </a:spcAft>
            </a:pPr>
            <a:r>
              <a:rPr sz="2700" b="1" i="0">
                <a:solidFill>
                  <a:srgbClr val="E9F2F4"/>
                </a:solidFill>
                <a:latin typeface="Segoe UI"/>
              </a:rPr>
              <a:t>Not a takeoff tool. Not an estimating product. Not a PM clone.</a:t>
            </a:r>
          </a:p>
        </p:txBody>
      </p:sp>
      <p:sp>
        <p:nvSpPr>
          <p:cNvPr id="6" name="TextBox 5"/>
          <p:cNvSpPr txBox="1"/>
          <p:nvPr/>
        </p:nvSpPr>
        <p:spPr>
          <a:xfrm>
            <a:off x="658368" y="3954780"/>
            <a:ext cx="4114800" cy="1463040"/>
          </a:xfrm>
          <a:prstGeom prst="rect">
            <a:avLst/>
          </a:prstGeom>
          <a:noFill/>
        </p:spPr>
        <p:txBody>
          <a:bodyPr wrap="square" anchor="t" lIns="0" rIns="0" tIns="0" bIns="0">
            <a:spAutoFit/>
          </a:bodyPr>
          <a:lstStyle/>
          <a:p>
            <a:pPr>
              <a:lnSpc>
                <a:spcPct val="145000"/>
              </a:lnSpc>
              <a:spcBef>
                <a:spcPts val="0"/>
              </a:spcBef>
              <a:spcAft>
                <a:spcPts val="0"/>
              </a:spcAft>
            </a:pPr>
            <a:r>
              <a:rPr sz="1100" b="0" i="0">
                <a:solidFill>
                  <a:srgbClr val="7A939E"/>
                </a:solidFill>
                <a:latin typeface="Segoe UI"/>
              </a:rPr>
              <a:t>Preckon is a construction operating system: one continuous chain from raw tender document to issued procurement package, with a governed AI fabric sitting between every module and every model.</a:t>
            </a:r>
          </a:p>
        </p:txBody>
      </p:sp>
      <p:sp>
        <p:nvSpPr>
          <p:cNvPr id="7" name="TextBox 6"/>
          <p:cNvSpPr txBox="1"/>
          <p:nvPr/>
        </p:nvSpPr>
        <p:spPr>
          <a:xfrm>
            <a:off x="5074920" y="1943100"/>
            <a:ext cx="365760" cy="274320"/>
          </a:xfrm>
          <a:prstGeom prst="rect">
            <a:avLst/>
          </a:prstGeom>
          <a:noFill/>
        </p:spPr>
        <p:txBody>
          <a:bodyPr wrap="square" anchor="t" lIns="0" rIns="0" tIns="0" bIns="0">
            <a:spAutoFit/>
          </a:bodyPr>
          <a:lstStyle/>
          <a:p>
            <a:r>
              <a:rPr sz="900" b="1" i="0" spc="100">
                <a:solidFill>
                  <a:srgbClr val="3EDCC2"/>
                </a:solidFill>
                <a:latin typeface="Consolas"/>
              </a:rPr>
              <a:t>01</a:t>
            </a:r>
          </a:p>
        </p:txBody>
      </p:sp>
      <p:sp>
        <p:nvSpPr>
          <p:cNvPr id="8" name="TextBox 7"/>
          <p:cNvSpPr txBox="1"/>
          <p:nvPr/>
        </p:nvSpPr>
        <p:spPr>
          <a:xfrm>
            <a:off x="5486400" y="1906524"/>
            <a:ext cx="6035040" cy="1097280"/>
          </a:xfrm>
          <a:prstGeom prst="rect">
            <a:avLst/>
          </a:prstGeom>
          <a:noFill/>
        </p:spPr>
        <p:txBody>
          <a:bodyPr wrap="square" anchor="t" lIns="0" rIns="0" tIns="0" bIns="0">
            <a:spAutoFit/>
          </a:bodyPr>
          <a:lstStyle/>
          <a:p>
            <a:pPr>
              <a:lnSpc>
                <a:spcPct val="145000"/>
              </a:lnSpc>
              <a:spcBef>
                <a:spcPts val="0"/>
              </a:spcBef>
              <a:spcAft>
                <a:spcPts val="0"/>
              </a:spcAft>
            </a:pPr>
            <a:r>
              <a:rPr sz="1350" b="1" i="0">
                <a:solidFill>
                  <a:srgbClr val="E9F2F4"/>
                </a:solidFill>
                <a:latin typeface="Segoe UI"/>
              </a:rPr>
              <a:t>Connect the lifecycle.</a:t>
            </a:r>
            <a:r>
              <a:rPr sz="1350" b="0" i="0">
                <a:solidFill>
                  <a:srgbClr val="A8C0C8"/>
                </a:solidFill>
                <a:latin typeface="Segoe UI"/>
              </a:rPr>
              <a:t> Project information stops being trapped in drawings, spreadsheets, email and departmental tools.</a:t>
            </a:r>
          </a:p>
        </p:txBody>
      </p:sp>
      <p:sp>
        <p:nvSpPr>
          <p:cNvPr id="9" name="TextBox 8"/>
          <p:cNvSpPr txBox="1"/>
          <p:nvPr/>
        </p:nvSpPr>
        <p:spPr>
          <a:xfrm>
            <a:off x="5074920" y="3177540"/>
            <a:ext cx="365760" cy="274320"/>
          </a:xfrm>
          <a:prstGeom prst="rect">
            <a:avLst/>
          </a:prstGeom>
          <a:noFill/>
        </p:spPr>
        <p:txBody>
          <a:bodyPr wrap="square" anchor="t" lIns="0" rIns="0" tIns="0" bIns="0">
            <a:spAutoFit/>
          </a:bodyPr>
          <a:lstStyle/>
          <a:p>
            <a:r>
              <a:rPr sz="900" b="1" i="0" spc="100">
                <a:solidFill>
                  <a:srgbClr val="3EDCC2"/>
                </a:solidFill>
                <a:latin typeface="Consolas"/>
              </a:rPr>
              <a:t>02</a:t>
            </a:r>
          </a:p>
        </p:txBody>
      </p:sp>
      <p:sp>
        <p:nvSpPr>
          <p:cNvPr id="10" name="TextBox 9"/>
          <p:cNvSpPr txBox="1"/>
          <p:nvPr/>
        </p:nvSpPr>
        <p:spPr>
          <a:xfrm>
            <a:off x="5486400" y="3140964"/>
            <a:ext cx="6035040" cy="1097280"/>
          </a:xfrm>
          <a:prstGeom prst="rect">
            <a:avLst/>
          </a:prstGeom>
          <a:noFill/>
        </p:spPr>
        <p:txBody>
          <a:bodyPr wrap="square" anchor="t" lIns="0" rIns="0" tIns="0" bIns="0">
            <a:spAutoFit/>
          </a:bodyPr>
          <a:lstStyle/>
          <a:p>
            <a:pPr>
              <a:lnSpc>
                <a:spcPct val="145000"/>
              </a:lnSpc>
              <a:spcBef>
                <a:spcPts val="0"/>
              </a:spcBef>
              <a:spcAft>
                <a:spcPts val="0"/>
              </a:spcAft>
            </a:pPr>
            <a:r>
              <a:rPr sz="1350" b="1" i="0">
                <a:solidFill>
                  <a:srgbClr val="E9F2F4"/>
                </a:solidFill>
                <a:latin typeface="Segoe UI"/>
              </a:rPr>
              <a:t>Turn project data into intelligence.</a:t>
            </a:r>
            <a:r>
              <a:rPr sz="1350" b="0" i="0">
                <a:solidFill>
                  <a:srgbClr val="A8C0C8"/>
                </a:solidFill>
                <a:latin typeface="Segoe UI"/>
              </a:rPr>
              <a:t> Deterministic construction engines first, structured project memory second, governed AI third — in that order, always.</a:t>
            </a:r>
          </a:p>
        </p:txBody>
      </p:sp>
      <p:sp>
        <p:nvSpPr>
          <p:cNvPr id="11" name="TextBox 10"/>
          <p:cNvSpPr txBox="1"/>
          <p:nvPr/>
        </p:nvSpPr>
        <p:spPr>
          <a:xfrm>
            <a:off x="5074920" y="4411980"/>
            <a:ext cx="365760" cy="274320"/>
          </a:xfrm>
          <a:prstGeom prst="rect">
            <a:avLst/>
          </a:prstGeom>
          <a:noFill/>
        </p:spPr>
        <p:txBody>
          <a:bodyPr wrap="square" anchor="t" lIns="0" rIns="0" tIns="0" bIns="0">
            <a:spAutoFit/>
          </a:bodyPr>
          <a:lstStyle/>
          <a:p>
            <a:r>
              <a:rPr sz="900" b="1" i="0" spc="100">
                <a:solidFill>
                  <a:srgbClr val="3EDCC2"/>
                </a:solidFill>
                <a:latin typeface="Consolas"/>
              </a:rPr>
              <a:t>03</a:t>
            </a:r>
          </a:p>
        </p:txBody>
      </p:sp>
      <p:sp>
        <p:nvSpPr>
          <p:cNvPr id="12" name="TextBox 11"/>
          <p:cNvSpPr txBox="1"/>
          <p:nvPr/>
        </p:nvSpPr>
        <p:spPr>
          <a:xfrm>
            <a:off x="5486400" y="4375404"/>
            <a:ext cx="6035040" cy="1097280"/>
          </a:xfrm>
          <a:prstGeom prst="rect">
            <a:avLst/>
          </a:prstGeom>
          <a:noFill/>
        </p:spPr>
        <p:txBody>
          <a:bodyPr wrap="square" anchor="t" lIns="0" rIns="0" tIns="0" bIns="0">
            <a:spAutoFit/>
          </a:bodyPr>
          <a:lstStyle/>
          <a:p>
            <a:pPr>
              <a:lnSpc>
                <a:spcPct val="145000"/>
              </a:lnSpc>
              <a:spcBef>
                <a:spcPts val="0"/>
              </a:spcBef>
              <a:spcAft>
                <a:spcPts val="0"/>
              </a:spcAft>
            </a:pPr>
            <a:r>
              <a:rPr sz="1350" b="1" i="0">
                <a:solidFill>
                  <a:srgbClr val="E9F2F4"/>
                </a:solidFill>
                <a:latin typeface="Segoe UI"/>
              </a:rPr>
              <a:t>Adapt to scale.</a:t>
            </a:r>
            <a:r>
              <a:rPr sz="1350" b="0" i="0">
                <a:solidFill>
                  <a:srgbClr val="A8C0C8"/>
                </a:solidFill>
                <a:latin typeface="Segoe UI"/>
              </a:rPr>
              <a:t> A complete native platform for mid-market, and an integration-and-intelligence layer for enterprises that cannot replace ERP, P6 and Autodesk on your timetable.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EIGHT MODULES, ONE CHAIN  </a:t>
            </a:r>
            <a:r>
              <a:rPr sz="900" b="1" i="0" spc="140">
                <a:solidFill>
                  <a:srgbClr val="3EDCC2"/>
                </a:solidFill>
                <a:latin typeface="Consolas"/>
              </a:rPr>
              <a:t>04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901952"/>
            <a:ext cx="1359369" cy="1371600"/>
          </a:xfrm>
          <a:prstGeom prst="rect">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68096" y="2039112"/>
            <a:ext cx="1139913" cy="1097280"/>
          </a:xfrm>
          <a:prstGeom prst="rect">
            <a:avLst/>
          </a:prstGeom>
          <a:noFill/>
        </p:spPr>
        <p:txBody>
          <a:bodyPr wrap="square" anchor="t" lIns="0" rIns="0" tIns="0" bIns="0">
            <a:spAutoFit/>
          </a:bodyPr>
          <a:lstStyle/>
          <a:p>
            <a:pPr>
              <a:spcBef>
                <a:spcPts val="0"/>
              </a:spcBef>
              <a:spcAft>
                <a:spcPts val="500"/>
              </a:spcAft>
            </a:pPr>
            <a:r>
              <a:rPr sz="850" b="0" i="0" spc="110">
                <a:solidFill>
                  <a:srgbClr val="3EDCC2"/>
                </a:solidFill>
                <a:latin typeface="Consolas"/>
              </a:rPr>
              <a:t>TENDER</a:t>
            </a:r>
          </a:p>
          <a:p>
            <a:pPr>
              <a:lnSpc>
                <a:spcPct val="134000"/>
              </a:lnSpc>
              <a:spcBef>
                <a:spcPts val="0"/>
              </a:spcBef>
              <a:spcAft>
                <a:spcPts val="0"/>
              </a:spcAft>
            </a:pPr>
            <a:r>
              <a:rPr sz="950" b="0" i="0">
                <a:solidFill>
                  <a:srgbClr val="A8C0C8"/>
                </a:solidFill>
                <a:latin typeface="Segoe UI"/>
              </a:rPr>
              <a:t>Reads the package. Extracts requirements, structures the bid.</a:t>
            </a:r>
          </a:p>
        </p:txBody>
      </p:sp>
      <p:sp>
        <p:nvSpPr>
          <p:cNvPr id="7" name="Rectangle 6"/>
          <p:cNvSpPr/>
          <p:nvPr/>
        </p:nvSpPr>
        <p:spPr>
          <a:xfrm>
            <a:off x="2017737" y="1901952"/>
            <a:ext cx="1359369" cy="1371600"/>
          </a:xfrm>
          <a:prstGeom prst="rect">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2127465" y="2039112"/>
            <a:ext cx="1139913" cy="1097280"/>
          </a:xfrm>
          <a:prstGeom prst="rect">
            <a:avLst/>
          </a:prstGeom>
          <a:noFill/>
        </p:spPr>
        <p:txBody>
          <a:bodyPr wrap="square" anchor="t" lIns="0" rIns="0" tIns="0" bIns="0">
            <a:spAutoFit/>
          </a:bodyPr>
          <a:lstStyle/>
          <a:p>
            <a:pPr>
              <a:spcBef>
                <a:spcPts val="0"/>
              </a:spcBef>
              <a:spcAft>
                <a:spcPts val="500"/>
              </a:spcAft>
            </a:pPr>
            <a:r>
              <a:rPr sz="850" b="0" i="0" spc="110">
                <a:solidFill>
                  <a:srgbClr val="3EDCC2"/>
                </a:solidFill>
                <a:latin typeface="Consolas"/>
              </a:rPr>
              <a:t>DRAW</a:t>
            </a:r>
          </a:p>
          <a:p>
            <a:pPr>
              <a:lnSpc>
                <a:spcPct val="134000"/>
              </a:lnSpc>
              <a:spcBef>
                <a:spcPts val="0"/>
              </a:spcBef>
              <a:spcAft>
                <a:spcPts val="0"/>
              </a:spcAft>
            </a:pPr>
            <a:r>
              <a:rPr sz="950" b="0" i="0">
                <a:solidFill>
                  <a:srgbClr val="A8C0C8"/>
                </a:solidFill>
                <a:latin typeface="Segoe UI"/>
              </a:rPr>
              <a:t>Interprets PDF and CAD. Recognises elements, measures them.</a:t>
            </a:r>
          </a:p>
        </p:txBody>
      </p:sp>
      <p:sp>
        <p:nvSpPr>
          <p:cNvPr id="9" name="Rectangle 8"/>
          <p:cNvSpPr/>
          <p:nvPr/>
        </p:nvSpPr>
        <p:spPr>
          <a:xfrm>
            <a:off x="3377107" y="1901952"/>
            <a:ext cx="1359369" cy="1371600"/>
          </a:xfrm>
          <a:prstGeom prst="rect">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486835" y="2039112"/>
            <a:ext cx="1139913" cy="1097280"/>
          </a:xfrm>
          <a:prstGeom prst="rect">
            <a:avLst/>
          </a:prstGeom>
          <a:noFill/>
        </p:spPr>
        <p:txBody>
          <a:bodyPr wrap="square" anchor="t" lIns="0" rIns="0" tIns="0" bIns="0">
            <a:spAutoFit/>
          </a:bodyPr>
          <a:lstStyle/>
          <a:p>
            <a:pPr>
              <a:spcBef>
                <a:spcPts val="0"/>
              </a:spcBef>
              <a:spcAft>
                <a:spcPts val="500"/>
              </a:spcAft>
            </a:pPr>
            <a:r>
              <a:rPr sz="850" b="0" i="0" spc="110">
                <a:solidFill>
                  <a:srgbClr val="3EDCC2"/>
                </a:solidFill>
                <a:latin typeface="Consolas"/>
              </a:rPr>
              <a:t>DOC</a:t>
            </a:r>
          </a:p>
          <a:p>
            <a:pPr>
              <a:lnSpc>
                <a:spcPct val="134000"/>
              </a:lnSpc>
              <a:spcBef>
                <a:spcPts val="0"/>
              </a:spcBef>
              <a:spcAft>
                <a:spcPts val="0"/>
              </a:spcAft>
            </a:pPr>
            <a:r>
              <a:rPr sz="950" b="0" i="0">
                <a:solidFill>
                  <a:srgbClr val="A8C0C8"/>
                </a:solidFill>
                <a:latin typeface="Segoe UI"/>
              </a:rPr>
              <a:t>Control, revisions, transmittals. Ties clauses to what they govern.</a:t>
            </a:r>
          </a:p>
        </p:txBody>
      </p:sp>
      <p:sp>
        <p:nvSpPr>
          <p:cNvPr id="11" name="Rectangle 10"/>
          <p:cNvSpPr/>
          <p:nvPr/>
        </p:nvSpPr>
        <p:spPr>
          <a:xfrm>
            <a:off x="4736477" y="1901952"/>
            <a:ext cx="1359369" cy="1371600"/>
          </a:xfrm>
          <a:prstGeom prst="rect">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846205" y="2039112"/>
            <a:ext cx="1139913" cy="1097280"/>
          </a:xfrm>
          <a:prstGeom prst="rect">
            <a:avLst/>
          </a:prstGeom>
          <a:noFill/>
        </p:spPr>
        <p:txBody>
          <a:bodyPr wrap="square" anchor="t" lIns="0" rIns="0" tIns="0" bIns="0">
            <a:spAutoFit/>
          </a:bodyPr>
          <a:lstStyle/>
          <a:p>
            <a:pPr>
              <a:spcBef>
                <a:spcPts val="0"/>
              </a:spcBef>
              <a:spcAft>
                <a:spcPts val="500"/>
              </a:spcAft>
            </a:pPr>
            <a:r>
              <a:rPr sz="850" b="0" i="0" spc="110">
                <a:solidFill>
                  <a:srgbClr val="3EDCC2"/>
                </a:solidFill>
                <a:latin typeface="Consolas"/>
              </a:rPr>
              <a:t>QUANT</a:t>
            </a:r>
          </a:p>
          <a:p>
            <a:pPr>
              <a:lnSpc>
                <a:spcPct val="134000"/>
              </a:lnSpc>
              <a:spcBef>
                <a:spcPts val="0"/>
              </a:spcBef>
              <a:spcAft>
                <a:spcPts val="0"/>
              </a:spcAft>
            </a:pPr>
            <a:r>
              <a:rPr sz="950" b="0" i="0">
                <a:solidFill>
                  <a:srgbClr val="A8C0C8"/>
                </a:solidFill>
                <a:latin typeface="Segoe UI"/>
              </a:rPr>
              <a:t>Takeoff and the bill, measured from the above.</a:t>
            </a:r>
          </a:p>
        </p:txBody>
      </p:sp>
      <p:sp>
        <p:nvSpPr>
          <p:cNvPr id="13" name="Rectangle 12"/>
          <p:cNvSpPr/>
          <p:nvPr/>
        </p:nvSpPr>
        <p:spPr>
          <a:xfrm>
            <a:off x="6095847" y="1901952"/>
            <a:ext cx="1359369" cy="1371600"/>
          </a:xfrm>
          <a:prstGeom prst="rect">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205575" y="2039112"/>
            <a:ext cx="1139913" cy="1097280"/>
          </a:xfrm>
          <a:prstGeom prst="rect">
            <a:avLst/>
          </a:prstGeom>
          <a:noFill/>
        </p:spPr>
        <p:txBody>
          <a:bodyPr wrap="square" anchor="t" lIns="0" rIns="0" tIns="0" bIns="0">
            <a:spAutoFit/>
          </a:bodyPr>
          <a:lstStyle/>
          <a:p>
            <a:pPr>
              <a:spcBef>
                <a:spcPts val="0"/>
              </a:spcBef>
              <a:spcAft>
                <a:spcPts val="500"/>
              </a:spcAft>
            </a:pPr>
            <a:r>
              <a:rPr sz="850" b="0" i="0" spc="110">
                <a:solidFill>
                  <a:srgbClr val="3EDCC2"/>
                </a:solidFill>
                <a:latin typeface="Consolas"/>
              </a:rPr>
              <a:t>COST</a:t>
            </a:r>
          </a:p>
          <a:p>
            <a:pPr>
              <a:lnSpc>
                <a:spcPct val="134000"/>
              </a:lnSpc>
              <a:spcBef>
                <a:spcPts val="0"/>
              </a:spcBef>
              <a:spcAft>
                <a:spcPts val="0"/>
              </a:spcAft>
            </a:pPr>
            <a:r>
              <a:rPr sz="950" b="0" i="0">
                <a:solidFill>
                  <a:srgbClr val="A8C0C8"/>
                </a:solidFill>
                <a:latin typeface="Segoe UI"/>
              </a:rPr>
              <a:t>Rates, assemblies, the priced estimate.</a:t>
            </a:r>
          </a:p>
        </p:txBody>
      </p:sp>
      <p:sp>
        <p:nvSpPr>
          <p:cNvPr id="15" name="Rectangle 14"/>
          <p:cNvSpPr/>
          <p:nvPr/>
        </p:nvSpPr>
        <p:spPr>
          <a:xfrm>
            <a:off x="7455217" y="1901952"/>
            <a:ext cx="1359369" cy="1371600"/>
          </a:xfrm>
          <a:prstGeom prst="rect">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564945" y="2039112"/>
            <a:ext cx="1139913" cy="1097280"/>
          </a:xfrm>
          <a:prstGeom prst="rect">
            <a:avLst/>
          </a:prstGeom>
          <a:noFill/>
        </p:spPr>
        <p:txBody>
          <a:bodyPr wrap="square" anchor="t" lIns="0" rIns="0" tIns="0" bIns="0">
            <a:spAutoFit/>
          </a:bodyPr>
          <a:lstStyle/>
          <a:p>
            <a:pPr>
              <a:spcBef>
                <a:spcPts val="0"/>
              </a:spcBef>
              <a:spcAft>
                <a:spcPts val="500"/>
              </a:spcAft>
            </a:pPr>
            <a:r>
              <a:rPr sz="850" b="0" i="0" spc="110">
                <a:solidFill>
                  <a:srgbClr val="3EDCC2"/>
                </a:solidFill>
                <a:latin typeface="Consolas"/>
              </a:rPr>
              <a:t>SCHEDULE</a:t>
            </a:r>
          </a:p>
          <a:p>
            <a:pPr>
              <a:lnSpc>
                <a:spcPct val="134000"/>
              </a:lnSpc>
              <a:spcBef>
                <a:spcPts val="0"/>
              </a:spcBef>
              <a:spcAft>
                <a:spcPts val="0"/>
              </a:spcAft>
            </a:pPr>
            <a:r>
              <a:rPr sz="950" b="0" i="0">
                <a:solidFill>
                  <a:srgbClr val="A8C0C8"/>
                </a:solidFill>
                <a:latin typeface="Segoe UI"/>
              </a:rPr>
              <a:t>Deterministic CPM, calendars, baselines that refuse silent moves.</a:t>
            </a:r>
          </a:p>
        </p:txBody>
      </p:sp>
      <p:sp>
        <p:nvSpPr>
          <p:cNvPr id="17" name="Rectangle 16"/>
          <p:cNvSpPr/>
          <p:nvPr/>
        </p:nvSpPr>
        <p:spPr>
          <a:xfrm>
            <a:off x="8814587" y="1901952"/>
            <a:ext cx="1359369" cy="1371600"/>
          </a:xfrm>
          <a:prstGeom prst="rect">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8924315" y="2039112"/>
            <a:ext cx="1139913" cy="1097280"/>
          </a:xfrm>
          <a:prstGeom prst="rect">
            <a:avLst/>
          </a:prstGeom>
          <a:noFill/>
        </p:spPr>
        <p:txBody>
          <a:bodyPr wrap="square" anchor="t" lIns="0" rIns="0" tIns="0" bIns="0">
            <a:spAutoFit/>
          </a:bodyPr>
          <a:lstStyle/>
          <a:p>
            <a:pPr>
              <a:spcBef>
                <a:spcPts val="0"/>
              </a:spcBef>
              <a:spcAft>
                <a:spcPts val="500"/>
              </a:spcAft>
            </a:pPr>
            <a:r>
              <a:rPr sz="850" b="0" i="0" spc="110">
                <a:solidFill>
                  <a:srgbClr val="3EDCC2"/>
                </a:solidFill>
                <a:latin typeface="Consolas"/>
              </a:rPr>
              <a:t>PROCURE</a:t>
            </a:r>
          </a:p>
          <a:p>
            <a:pPr>
              <a:lnSpc>
                <a:spcPct val="134000"/>
              </a:lnSpc>
              <a:spcBef>
                <a:spcPts val="0"/>
              </a:spcBef>
              <a:spcAft>
                <a:spcPts val="0"/>
              </a:spcAft>
            </a:pPr>
            <a:r>
              <a:rPr sz="950" b="0" i="0">
                <a:solidFill>
                  <a:srgbClr val="A8C0C8"/>
                </a:solidFill>
                <a:latin typeface="Segoe UI"/>
              </a:rPr>
              <a:t>Packages grouped from the bill, ready to issue.</a:t>
            </a:r>
          </a:p>
        </p:txBody>
      </p:sp>
      <p:sp>
        <p:nvSpPr>
          <p:cNvPr id="19" name="Rectangle 18"/>
          <p:cNvSpPr/>
          <p:nvPr/>
        </p:nvSpPr>
        <p:spPr>
          <a:xfrm>
            <a:off x="10173957" y="1901952"/>
            <a:ext cx="1359369" cy="1371600"/>
          </a:xfrm>
          <a:prstGeom prst="rect">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10283685" y="2039112"/>
            <a:ext cx="1139913" cy="1097280"/>
          </a:xfrm>
          <a:prstGeom prst="rect">
            <a:avLst/>
          </a:prstGeom>
          <a:noFill/>
        </p:spPr>
        <p:txBody>
          <a:bodyPr wrap="square" anchor="t" lIns="0" rIns="0" tIns="0" bIns="0">
            <a:spAutoFit/>
          </a:bodyPr>
          <a:lstStyle/>
          <a:p>
            <a:pPr>
              <a:spcBef>
                <a:spcPts val="0"/>
              </a:spcBef>
              <a:spcAft>
                <a:spcPts val="500"/>
              </a:spcAft>
            </a:pPr>
            <a:r>
              <a:rPr sz="850" b="0" i="0" spc="110">
                <a:solidFill>
                  <a:srgbClr val="3EDCC2"/>
                </a:solidFill>
                <a:latin typeface="Consolas"/>
              </a:rPr>
              <a:t>NARRATIVE</a:t>
            </a:r>
          </a:p>
          <a:p>
            <a:pPr>
              <a:lnSpc>
                <a:spcPct val="134000"/>
              </a:lnSpc>
              <a:spcBef>
                <a:spcPts val="0"/>
              </a:spcBef>
              <a:spcAft>
                <a:spcPts val="0"/>
              </a:spcAft>
            </a:pPr>
            <a:r>
              <a:rPr sz="950" b="0" i="0">
                <a:solidFill>
                  <a:srgbClr val="A8C0C8"/>
                </a:solidFill>
                <a:latin typeface="Segoe UI"/>
              </a:rPr>
              <a:t>The technical submission, from the same records.</a:t>
            </a:r>
          </a:p>
        </p:txBody>
      </p:sp>
      <p:sp>
        <p:nvSpPr>
          <p:cNvPr id="21" name="TextBox 20"/>
          <p:cNvSpPr txBox="1"/>
          <p:nvPr/>
        </p:nvSpPr>
        <p:spPr>
          <a:xfrm>
            <a:off x="658368" y="3639312"/>
            <a:ext cx="9326880" cy="914400"/>
          </a:xfrm>
          <a:prstGeom prst="rect">
            <a:avLst/>
          </a:prstGeom>
          <a:noFill/>
        </p:spPr>
        <p:txBody>
          <a:bodyPr wrap="square" anchor="t" lIns="0" rIns="0" tIns="0" bIns="0">
            <a:spAutoFit/>
          </a:bodyPr>
          <a:lstStyle/>
          <a:p>
            <a:pPr>
              <a:lnSpc>
                <a:spcPct val="142000"/>
              </a:lnSpc>
              <a:spcBef>
                <a:spcPts val="0"/>
              </a:spcBef>
              <a:spcAft>
                <a:spcPts val="700"/>
              </a:spcAft>
            </a:pPr>
            <a:r>
              <a:rPr sz="1400" b="0" i="0">
                <a:solidFill>
                  <a:srgbClr val="A8C0C8"/>
                </a:solidFill>
                <a:latin typeface="Segoe UI"/>
              </a:rPr>
              <a:t>Each is not a screen — it is an intelligence layer over the same project record. Nothing is retyped between them, because nothing is ever </a:t>
            </a:r>
            <a:r>
              <a:rPr sz="1400" b="0" i="1">
                <a:solidFill>
                  <a:srgbClr val="E9F2F4"/>
                </a:solidFill>
                <a:latin typeface="Segoe UI"/>
              </a:rPr>
              <a:t>handed over</a:t>
            </a:r>
            <a:r>
              <a:rPr sz="1400" b="0" i="0">
                <a:solidFill>
                  <a:srgbClr val="A8C0C8"/>
                </a:solidFill>
                <a:latin typeface="Segoe UI"/>
              </a:rPr>
              <a:t>; the next stage reads the confirmed output of the last.</a:t>
            </a:r>
          </a:p>
        </p:txBody>
      </p:sp>
      <p:sp>
        <p:nvSpPr>
          <p:cNvPr id="22" name="TextBox 21"/>
          <p:cNvSpPr txBox="1"/>
          <p:nvPr/>
        </p:nvSpPr>
        <p:spPr>
          <a:xfrm>
            <a:off x="658368" y="4645152"/>
            <a:ext cx="9326880" cy="822960"/>
          </a:xfrm>
          <a:prstGeom prst="rect">
            <a:avLst/>
          </a:prstGeom>
          <a:noFill/>
        </p:spPr>
        <p:txBody>
          <a:bodyPr wrap="square" anchor="t" lIns="0" rIns="0" tIns="0" bIns="0">
            <a:spAutoFit/>
          </a:bodyPr>
          <a:lstStyle/>
          <a:p>
            <a:pPr>
              <a:lnSpc>
                <a:spcPct val="142000"/>
              </a:lnSpc>
              <a:spcBef>
                <a:spcPts val="0"/>
              </a:spcBef>
              <a:spcAft>
                <a:spcPts val="0"/>
              </a:spcAft>
            </a:pPr>
            <a:r>
              <a:rPr sz="1100" b="0" i="0">
                <a:solidFill>
                  <a:srgbClr val="7A939E"/>
                </a:solidFill>
                <a:latin typeface="Segoe UI"/>
              </a:rPr>
              <a:t>All eight are seeded and running in the deployed workspace today. </a:t>
            </a:r>
            <a:r>
              <a:rPr sz="1100" b="0" i="0">
                <a:solidFill>
                  <a:srgbClr val="A8C0C8"/>
                </a:solidFill>
                <a:latin typeface="Consolas"/>
              </a:rPr>
              <a:t>Preckon Core</a:t>
            </a:r>
            <a:r>
              <a:rPr sz="1100" b="0" i="0">
                <a:solidFill>
                  <a:srgbClr val="7A939E"/>
                </a:solidFill>
                <a:latin typeface="Segoe UI"/>
              </a:rPr>
              <a:t> underneath carries identity, tenancy, workflow, entitlements, audit and the AI gateway — modules are forbidden from re-implementing any of 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THE SINGLE CLAIM  </a:t>
            </a:r>
            <a:r>
              <a:rPr sz="900" b="1" i="0" spc="140">
                <a:solidFill>
                  <a:srgbClr val="3EDCC2"/>
                </a:solidFill>
                <a:latin typeface="Consolas"/>
              </a:rPr>
              <a:t>05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856232"/>
            <a:ext cx="8046720" cy="1463040"/>
          </a:xfrm>
          <a:prstGeom prst="rect">
            <a:avLst/>
          </a:prstGeom>
          <a:noFill/>
        </p:spPr>
        <p:txBody>
          <a:bodyPr wrap="square" anchor="t" lIns="0" rIns="0" tIns="0" bIns="0">
            <a:spAutoFit/>
          </a:bodyPr>
          <a:lstStyle/>
          <a:p>
            <a:pPr>
              <a:lnSpc>
                <a:spcPct val="112000"/>
              </a:lnSpc>
              <a:spcBef>
                <a:spcPts val="0"/>
              </a:spcBef>
              <a:spcAft>
                <a:spcPts val="0"/>
              </a:spcAft>
            </a:pPr>
            <a:r>
              <a:rPr sz="3800" b="1" i="0">
                <a:solidFill>
                  <a:srgbClr val="E9F2F4"/>
                </a:solidFill>
                <a:latin typeface="Segoe UI"/>
              </a:rPr>
              <a:t>Every number on screen can tell you where it came from.</a:t>
            </a:r>
          </a:p>
        </p:txBody>
      </p:sp>
      <p:sp>
        <p:nvSpPr>
          <p:cNvPr id="6" name="TextBox 5"/>
          <p:cNvSpPr txBox="1"/>
          <p:nvPr/>
        </p:nvSpPr>
        <p:spPr>
          <a:xfrm>
            <a:off x="658368" y="3410712"/>
            <a:ext cx="7315200" cy="822960"/>
          </a:xfrm>
          <a:prstGeom prst="rect">
            <a:avLst/>
          </a:prstGeom>
          <a:noFill/>
        </p:spPr>
        <p:txBody>
          <a:bodyPr wrap="square" anchor="t" lIns="0" rIns="0" tIns="0" bIns="0">
            <a:spAutoFit/>
          </a:bodyPr>
          <a:lstStyle/>
          <a:p>
            <a:pPr>
              <a:lnSpc>
                <a:spcPct val="142000"/>
              </a:lnSpc>
              <a:spcBef>
                <a:spcPts val="0"/>
              </a:spcBef>
              <a:spcAft>
                <a:spcPts val="0"/>
              </a:spcAft>
            </a:pPr>
            <a:r>
              <a:rPr sz="1700" b="0" i="0">
                <a:solidFill>
                  <a:srgbClr val="A8C0C8"/>
                </a:solidFill>
                <a:latin typeface="Segoe UI"/>
              </a:rPr>
              <a:t>Which page of which document. Which layer of which drawing. Or which person typed it, and when they signed for it.</a:t>
            </a:r>
          </a:p>
        </p:txBody>
      </p:sp>
      <p:sp>
        <p:nvSpPr>
          <p:cNvPr id="7" name="Rectangle 6"/>
          <p:cNvSpPr/>
          <p:nvPr/>
        </p:nvSpPr>
        <p:spPr>
          <a:xfrm>
            <a:off x="658368" y="4599432"/>
            <a:ext cx="22860" cy="566928"/>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4599432"/>
            <a:ext cx="8266175" cy="914400"/>
          </a:xfrm>
          <a:prstGeom prst="rect">
            <a:avLst/>
          </a:prstGeom>
          <a:noFill/>
        </p:spPr>
        <p:txBody>
          <a:bodyPr wrap="square" anchor="t" lIns="0" rIns="0" tIns="0" bIns="0">
            <a:spAutoFit/>
          </a:bodyPr>
          <a:lstStyle/>
          <a:p>
            <a:pPr>
              <a:lnSpc>
                <a:spcPct val="140000"/>
              </a:lnSpc>
              <a:spcBef>
                <a:spcPts val="0"/>
              </a:spcBef>
              <a:spcAft>
                <a:spcPts val="0"/>
              </a:spcAft>
            </a:pPr>
            <a:r>
              <a:rPr sz="1700" b="0" i="1">
                <a:solidFill>
                  <a:srgbClr val="E9F2F4"/>
                </a:solidFill>
                <a:latin typeface="Georgia"/>
              </a:rPr>
              <a:t>That is the product. The speed is a consequence of it, not the point of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ARCHITECTURE  </a:t>
            </a:r>
            <a:r>
              <a:rPr sz="900" b="1" i="0" spc="140">
                <a:solidFill>
                  <a:srgbClr val="3EDCC2"/>
                </a:solidFill>
                <a:latin typeface="Consolas"/>
              </a:rPr>
              <a:t>06  </a:t>
            </a:r>
            <a:r>
              <a:rPr sz="900" b="0" i="0" spc="140">
                <a:solidFill>
                  <a:srgbClr val="7A939E"/>
                </a:solidFill>
                <a:latin typeface="Consolas"/>
              </a:rPr>
              <a:t>TWO PLANES</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613916"/>
            <a:ext cx="960120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The commercial model is data. The product plane never learns your contract.</a:t>
            </a:r>
          </a:p>
        </p:txBody>
      </p:sp>
      <p:sp>
        <p:nvSpPr>
          <p:cNvPr id="6" name="Rounded Rectangle 5"/>
          <p:cNvSpPr/>
          <p:nvPr/>
        </p:nvSpPr>
        <p:spPr>
          <a:xfrm>
            <a:off x="658368" y="2830068"/>
            <a:ext cx="5327751" cy="17830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13816" y="2967227"/>
            <a:ext cx="5016855" cy="15087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HOST PLANE — CONTROL</a:t>
            </a:r>
          </a:p>
          <a:p>
            <a:pPr>
              <a:spcBef>
                <a:spcPts val="0"/>
              </a:spcBef>
              <a:spcAft>
                <a:spcPts val="500"/>
              </a:spcAft>
            </a:pPr>
            <a:r>
              <a:rPr sz="1200" b="1" i="0">
                <a:solidFill>
                  <a:srgbClr val="E9F2F4"/>
                </a:solidFill>
                <a:latin typeface="Segoe UI"/>
              </a:rPr>
              <a:t>Where the product is defined</a:t>
            </a:r>
          </a:p>
        </p:txBody>
      </p:sp>
      <p:sp>
        <p:nvSpPr>
          <p:cNvPr id="8" name="TextBox 7"/>
          <p:cNvSpPr txBox="1"/>
          <p:nvPr/>
        </p:nvSpPr>
        <p:spPr>
          <a:xfrm>
            <a:off x="813816" y="3378708"/>
            <a:ext cx="5016855" cy="1188720"/>
          </a:xfrm>
          <a:prstGeom prst="rect">
            <a:avLst/>
          </a:prstGeom>
          <a:noFill/>
        </p:spPr>
        <p:txBody>
          <a:bodyPr wrap="square" anchor="t" lIns="0" rIns="0" tIns="0" bIns="0">
            <a:spAutoFit/>
          </a:bodyPr>
          <a:lstStyle/>
          <a:p>
            <a:pPr>
              <a:lnSpc>
                <a:spcPct val="142000"/>
              </a:lnSpc>
              <a:spcBef>
                <a:spcPts val="0"/>
              </a:spcBef>
              <a:spcAft>
                <a:spcPts val="900"/>
              </a:spcAft>
            </a:pPr>
            <a:r>
              <a:rPr sz="1100" b="0" i="0">
                <a:solidFill>
                  <a:srgbClr val="A8C0C8"/>
                </a:solidFill>
                <a:latin typeface="Segoe UI"/>
              </a:rPr>
              <a:t>Feature → Edition (with limits) → Pricing → Subscription → </a:t>
            </a:r>
            <a:r>
              <a:rPr sz="1100" b="1" i="0">
                <a:solidFill>
                  <a:srgbClr val="E9F2F4"/>
                </a:solidFill>
                <a:latin typeface="Segoe UI"/>
              </a:rPr>
              <a:t>resolved entitlements</a:t>
            </a:r>
            <a:r>
              <a:rPr sz="1100" b="0" i="0">
                <a:solidFill>
                  <a:srgbClr val="A8C0C8"/>
                </a:solidFill>
                <a:latin typeface="Segoe UI"/>
              </a:rPr>
              <a:t>. Tenant provisioning, billing, platform operations.</a:t>
            </a:r>
          </a:p>
          <a:p>
            <a:pPr>
              <a:lnSpc>
                <a:spcPct val="142000"/>
              </a:lnSpc>
              <a:spcBef>
                <a:spcPts val="0"/>
              </a:spcBef>
              <a:spcAft>
                <a:spcPts val="900"/>
              </a:spcAft>
            </a:pPr>
            <a:r>
              <a:rPr sz="950" b="0" i="0">
                <a:solidFill>
                  <a:srgbClr val="7A939E"/>
                </a:solidFill>
                <a:latin typeface="Consolas"/>
              </a:rPr>
              <a:t>32 tables · append-only hash-chained audit · operated by TechSME</a:t>
            </a:r>
          </a:p>
        </p:txBody>
      </p:sp>
      <p:sp>
        <p:nvSpPr>
          <p:cNvPr id="9" name="Rounded Rectangle 8"/>
          <p:cNvSpPr/>
          <p:nvPr/>
        </p:nvSpPr>
        <p:spPr>
          <a:xfrm>
            <a:off x="6205575" y="2830068"/>
            <a:ext cx="5327751" cy="17830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361023" y="2967227"/>
            <a:ext cx="5016855" cy="15087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TENANT PLANE — WORK</a:t>
            </a:r>
          </a:p>
          <a:p>
            <a:pPr>
              <a:spcBef>
                <a:spcPts val="0"/>
              </a:spcBef>
              <a:spcAft>
                <a:spcPts val="500"/>
              </a:spcAft>
            </a:pPr>
            <a:r>
              <a:rPr sz="1200" b="1" i="0">
                <a:solidFill>
                  <a:srgbClr val="E9F2F4"/>
                </a:solidFill>
                <a:latin typeface="Segoe UI"/>
              </a:rPr>
              <a:t>Where the project lives</a:t>
            </a:r>
          </a:p>
        </p:txBody>
      </p:sp>
      <p:sp>
        <p:nvSpPr>
          <p:cNvPr id="11" name="TextBox 10"/>
          <p:cNvSpPr txBox="1"/>
          <p:nvPr/>
        </p:nvSpPr>
        <p:spPr>
          <a:xfrm>
            <a:off x="6361023" y="3378708"/>
            <a:ext cx="5016855" cy="1188720"/>
          </a:xfrm>
          <a:prstGeom prst="rect">
            <a:avLst/>
          </a:prstGeom>
          <a:noFill/>
        </p:spPr>
        <p:txBody>
          <a:bodyPr wrap="square" anchor="t" lIns="0" rIns="0" tIns="0" bIns="0">
            <a:spAutoFit/>
          </a:bodyPr>
          <a:lstStyle/>
          <a:p>
            <a:pPr>
              <a:lnSpc>
                <a:spcPct val="142000"/>
              </a:lnSpc>
              <a:spcBef>
                <a:spcPts val="0"/>
              </a:spcBef>
              <a:spcAft>
                <a:spcPts val="900"/>
              </a:spcAft>
            </a:pPr>
            <a:r>
              <a:rPr sz="1100" b="0" i="0">
                <a:solidFill>
                  <a:srgbClr val="A8C0C8"/>
                </a:solidFill>
                <a:latin typeface="Segoe UI"/>
              </a:rPr>
              <a:t>Projects, documents, drawings, artifacts, review queues, the audit chain. Consumes exactly </a:t>
            </a:r>
            <a:r>
              <a:rPr sz="1100" b="1" i="0">
                <a:solidFill>
                  <a:srgbClr val="E9F2F4"/>
                </a:solidFill>
                <a:latin typeface="Segoe UI"/>
              </a:rPr>
              <a:t>one</a:t>
            </a:r>
            <a:r>
              <a:rPr sz="1100" b="0" i="0">
                <a:solidFill>
                  <a:srgbClr val="A8C0C8"/>
                </a:solidFill>
                <a:latin typeface="Segoe UI"/>
              </a:rPr>
              <a:t> thing from the host: resolved entitlements.</a:t>
            </a:r>
          </a:p>
          <a:p>
            <a:pPr>
              <a:lnSpc>
                <a:spcPct val="142000"/>
              </a:lnSpc>
              <a:spcBef>
                <a:spcPts val="0"/>
              </a:spcBef>
              <a:spcAft>
                <a:spcPts val="900"/>
              </a:spcAft>
            </a:pPr>
            <a:r>
              <a:rPr sz="950" b="0" i="0">
                <a:solidFill>
                  <a:srgbClr val="7A939E"/>
                </a:solidFill>
                <a:latin typeface="Consolas"/>
              </a:rPr>
              <a:t>84 tables · 90 API routes · deployed</a:t>
            </a:r>
          </a:p>
        </p:txBody>
      </p:sp>
      <p:sp>
        <p:nvSpPr>
          <p:cNvPr id="12" name="TextBox 11"/>
          <p:cNvSpPr txBox="1"/>
          <p:nvPr/>
        </p:nvSpPr>
        <p:spPr>
          <a:xfrm>
            <a:off x="658368" y="4933188"/>
            <a:ext cx="9692640" cy="822960"/>
          </a:xfrm>
          <a:prstGeom prst="rect">
            <a:avLst/>
          </a:prstGeom>
          <a:noFill/>
        </p:spPr>
        <p:txBody>
          <a:bodyPr wrap="square" anchor="t" lIns="0" rIns="0" tIns="0" bIns="0">
            <a:spAutoFit/>
          </a:bodyPr>
          <a:lstStyle/>
          <a:p>
            <a:pPr>
              <a:lnSpc>
                <a:spcPct val="142000"/>
              </a:lnSpc>
              <a:spcBef>
                <a:spcPts val="0"/>
              </a:spcBef>
              <a:spcAft>
                <a:spcPts val="700"/>
              </a:spcAft>
            </a:pPr>
            <a:r>
              <a:rPr sz="1350" b="0" i="0">
                <a:solidFill>
                  <a:srgbClr val="A8C0C8"/>
                </a:solidFill>
                <a:latin typeface="Segoe UI"/>
              </a:rPr>
              <a:t>Because the split is that clean, a tenant can be given its own deployment target, its own region, or its own brand without touching product code — and pricing can change without a release.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ARCHITECTURE  </a:t>
            </a:r>
            <a:r>
              <a:rPr sz="900" b="1" i="0" spc="140">
                <a:solidFill>
                  <a:srgbClr val="3EDCC2"/>
                </a:solidFill>
                <a:latin typeface="Consolas"/>
              </a:rPr>
              <a:t>07  </a:t>
            </a:r>
            <a:r>
              <a:rPr sz="900" b="0" i="0" spc="140">
                <a:solidFill>
                  <a:srgbClr val="7A939E"/>
                </a:solidFill>
                <a:latin typeface="Consolas"/>
              </a:rPr>
              <a:t>DOMAIN-NEUTRAL KERNEL</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906524"/>
            <a:ext cx="4023360" cy="1463040"/>
          </a:xfrm>
          <a:prstGeom prst="rect">
            <a:avLst/>
          </a:prstGeom>
          <a:noFill/>
        </p:spPr>
        <p:txBody>
          <a:bodyPr wrap="square" anchor="t" lIns="0" rIns="0" tIns="0" bIns="0">
            <a:spAutoFit/>
          </a:bodyPr>
          <a:lstStyle/>
          <a:p>
            <a:pPr>
              <a:lnSpc>
                <a:spcPct val="112000"/>
              </a:lnSpc>
              <a:spcBef>
                <a:spcPts val="0"/>
              </a:spcBef>
              <a:spcAft>
                <a:spcPts val="0"/>
              </a:spcAft>
            </a:pPr>
            <a:r>
              <a:rPr sz="2700" b="1" i="0">
                <a:solidFill>
                  <a:srgbClr val="E9F2F4"/>
                </a:solidFill>
                <a:latin typeface="Segoe UI"/>
              </a:rPr>
              <a:t>The core knows nothing about construction.</a:t>
            </a:r>
          </a:p>
        </p:txBody>
      </p:sp>
      <p:sp>
        <p:nvSpPr>
          <p:cNvPr id="6" name="TextBox 5"/>
          <p:cNvSpPr txBox="1"/>
          <p:nvPr/>
        </p:nvSpPr>
        <p:spPr>
          <a:xfrm>
            <a:off x="658368" y="3369564"/>
            <a:ext cx="4023360" cy="2011680"/>
          </a:xfrm>
          <a:prstGeom prst="rect">
            <a:avLst/>
          </a:prstGeom>
          <a:noFill/>
        </p:spPr>
        <p:txBody>
          <a:bodyPr wrap="square" anchor="t" lIns="0" rIns="0" tIns="0" bIns="0">
            <a:spAutoFit/>
          </a:bodyPr>
          <a:lstStyle/>
          <a:p>
            <a:pPr>
              <a:lnSpc>
                <a:spcPct val="145000"/>
              </a:lnSpc>
              <a:spcBef>
                <a:spcPts val="0"/>
              </a:spcBef>
              <a:spcAft>
                <a:spcPts val="1100"/>
              </a:spcAft>
            </a:pPr>
            <a:r>
              <a:rPr sz="1100" b="0" i="0">
                <a:solidFill>
                  <a:srgbClr val="7A939E"/>
                </a:solidFill>
                <a:latin typeface="Segoe UI"/>
              </a:rPr>
              <a:t>It knows one interface: </a:t>
            </a:r>
            <a:r>
              <a:rPr sz="1100" b="0" i="0">
                <a:solidFill>
                  <a:srgbClr val="A8C0C8"/>
                </a:solidFill>
                <a:latin typeface="Consolas"/>
              </a:rPr>
              <a:t>DomainPack</a:t>
            </a:r>
            <a:r>
              <a:rPr sz="1100" b="0" i="0">
                <a:solidFill>
                  <a:srgbClr val="7A939E"/>
                </a:solidFill>
                <a:latin typeface="Segoe UI"/>
              </a:rPr>
              <a:t>. A vertical is data — one file satisfying the contract, plus one line in the registry.</a:t>
            </a:r>
          </a:p>
          <a:p>
            <a:pPr>
              <a:lnSpc>
                <a:spcPct val="145000"/>
              </a:lnSpc>
              <a:spcBef>
                <a:spcPts val="0"/>
              </a:spcBef>
              <a:spcAft>
                <a:spcPts val="0"/>
              </a:spcAft>
            </a:pPr>
            <a:r>
              <a:rPr sz="1100" b="0" i="0">
                <a:solidFill>
                  <a:srgbClr val="7A939E"/>
                </a:solidFill>
                <a:latin typeface="Segoe UI"/>
              </a:rPr>
              <a:t>A pack declares its modules, artifact types and JSON schemas, agents with typed I/O, workflows as DAGs, personas, a lifecycle state machine, a role template, permissions and standard rules.</a:t>
            </a:r>
          </a:p>
        </p:txBody>
      </p:sp>
      <p:sp>
        <p:nvSpPr>
          <p:cNvPr id="7" name="Rounded Rectangle 6"/>
          <p:cNvSpPr/>
          <p:nvPr/>
        </p:nvSpPr>
        <p:spPr>
          <a:xfrm>
            <a:off x="5074920" y="1933956"/>
            <a:ext cx="6455664" cy="932688"/>
          </a:xfrm>
          <a:prstGeom prst="roundRect">
            <a:avLst>
              <a:gd name="adj" fmla="val 4500"/>
            </a:avLst>
          </a:prstGeom>
          <a:solidFill>
            <a:srgbClr val="0C2F2D"/>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230368" y="2071116"/>
            <a:ext cx="6144768" cy="658368"/>
          </a:xfrm>
          <a:prstGeom prst="rect">
            <a:avLst/>
          </a:prstGeom>
          <a:noFill/>
        </p:spPr>
        <p:txBody>
          <a:bodyPr wrap="square" anchor="t" lIns="0" rIns="0" tIns="0" bIns="0">
            <a:spAutoFit/>
          </a:bodyPr>
          <a:lstStyle/>
          <a:p>
            <a:pPr>
              <a:spcBef>
                <a:spcPts val="0"/>
              </a:spcBef>
              <a:spcAft>
                <a:spcPts val="600"/>
              </a:spcAft>
            </a:pPr>
            <a:r>
              <a:rPr sz="800" b="0" i="0" spc="130">
                <a:solidFill>
                  <a:srgbClr val="3EDCC2"/>
                </a:solidFill>
                <a:latin typeface="Consolas"/>
              </a:rPr>
              <a:t>CONSTRUCTION PACK — SHIPPED</a:t>
            </a:r>
          </a:p>
          <a:p>
            <a:pPr>
              <a:lnSpc>
                <a:spcPct val="138000"/>
              </a:lnSpc>
              <a:spcBef>
                <a:spcPts val="0"/>
              </a:spcBef>
              <a:spcAft>
                <a:spcPts val="0"/>
              </a:spcAft>
            </a:pPr>
            <a:r>
              <a:rPr sz="1100" b="0" i="0">
                <a:solidFill>
                  <a:srgbClr val="E9F2F4"/>
                </a:solidFill>
                <a:latin typeface="Consolas"/>
              </a:rPr>
              <a:t>8 modules · 18 artifact types · 20 agents · 14 workflows · 34 deterministic engines</a:t>
            </a:r>
          </a:p>
        </p:txBody>
      </p:sp>
      <p:sp>
        <p:nvSpPr>
          <p:cNvPr id="9" name="Rounded Rectangle 8"/>
          <p:cNvSpPr/>
          <p:nvPr/>
        </p:nvSpPr>
        <p:spPr>
          <a:xfrm>
            <a:off x="5074920" y="3031236"/>
            <a:ext cx="6455664" cy="1078992"/>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230368" y="3168396"/>
            <a:ext cx="6144768" cy="804671"/>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THE PROOF IT IS REAL</a:t>
            </a:r>
          </a:p>
          <a:p>
            <a:pPr>
              <a:lnSpc>
                <a:spcPct val="138000"/>
              </a:lnSpc>
              <a:spcBef>
                <a:spcPts val="0"/>
              </a:spcBef>
              <a:spcAft>
                <a:spcPts val="0"/>
              </a:spcAft>
            </a:pPr>
            <a:r>
              <a:rPr sz="1150" b="0" i="0">
                <a:solidFill>
                  <a:srgbClr val="A8C0C8"/>
                </a:solidFill>
                <a:latin typeface="Segoe UI"/>
              </a:rPr>
              <a:t>A second pack — </a:t>
            </a:r>
            <a:r>
              <a:rPr sz="1150" b="1" i="0">
                <a:solidFill>
                  <a:srgbClr val="E9F2F4"/>
                </a:solidFill>
                <a:latin typeface="Segoe UI"/>
              </a:rPr>
              <a:t>underwriting</a:t>
            </a:r>
            <a:r>
              <a:rPr sz="1150" b="0" i="0">
                <a:solidFill>
                  <a:srgbClr val="A8C0C8"/>
                </a:solidFill>
                <a:latin typeface="Segoe UI"/>
              </a:rPr>
              <a:t> — runs on the same unmodified kernel. Construction is not hard-coded; it is loaded.</a:t>
            </a:r>
          </a:p>
        </p:txBody>
      </p:sp>
      <p:sp>
        <p:nvSpPr>
          <p:cNvPr id="11" name="Rounded Rectangle 10"/>
          <p:cNvSpPr/>
          <p:nvPr/>
        </p:nvSpPr>
        <p:spPr>
          <a:xfrm>
            <a:off x="5074920" y="4274820"/>
            <a:ext cx="6455664" cy="118872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230368" y="4411980"/>
            <a:ext cx="6144768" cy="91440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THE ABI — FOUR SYSCALLS, NOTHING ELSE</a:t>
            </a:r>
          </a:p>
        </p:txBody>
      </p:sp>
      <p:sp>
        <p:nvSpPr>
          <p:cNvPr id="13" name="TextBox 12"/>
          <p:cNvSpPr txBox="1"/>
          <p:nvPr/>
        </p:nvSpPr>
        <p:spPr>
          <a:xfrm>
            <a:off x="5230368" y="4713732"/>
            <a:ext cx="6126480" cy="731520"/>
          </a:xfrm>
          <a:prstGeom prst="rect">
            <a:avLst/>
          </a:prstGeom>
          <a:noFill/>
        </p:spPr>
        <p:txBody>
          <a:bodyPr wrap="square" anchor="t" lIns="0" rIns="0" tIns="0" bIns="0">
            <a:spAutoFit/>
          </a:bodyPr>
          <a:lstStyle/>
          <a:p>
            <a:pPr>
              <a:lnSpc>
                <a:spcPct val="160000"/>
              </a:lnSpc>
              <a:spcBef>
                <a:spcPts val="0"/>
              </a:spcBef>
              <a:spcAft>
                <a:spcPts val="0"/>
              </a:spcAft>
            </a:pPr>
            <a:r>
              <a:rPr sz="1150" b="0" i="0">
                <a:solidFill>
                  <a:srgbClr val="E9F2F4"/>
                </a:solidFill>
                <a:latin typeface="Consolas"/>
              </a:rPr>
              <a:t>emitArtifact  ·  readArtifacts
enqueueJob / onJobResult  ·  requestReview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ARCHITECTURE  </a:t>
            </a:r>
            <a:r>
              <a:rPr sz="900" b="1" i="0" spc="140">
                <a:solidFill>
                  <a:srgbClr val="3EDCC2"/>
                </a:solidFill>
                <a:latin typeface="Consolas"/>
              </a:rPr>
              <a:t>08  </a:t>
            </a:r>
            <a:r>
              <a:rPr sz="900" b="0" i="0" spc="140">
                <a:solidFill>
                  <a:srgbClr val="7A939E"/>
                </a:solidFill>
                <a:latin typeface="Consolas"/>
              </a:rPr>
              <a:t>THE ARTIFACT CHAIN</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91056"/>
            <a:ext cx="9601200" cy="1463040"/>
          </a:xfrm>
          <a:prstGeom prst="rect">
            <a:avLst/>
          </a:prstGeom>
          <a:noFill/>
        </p:spPr>
        <p:txBody>
          <a:bodyPr wrap="square" anchor="t" lIns="0" rIns="0" tIns="0" bIns="0">
            <a:spAutoFit/>
          </a:bodyPr>
          <a:lstStyle/>
          <a:p>
            <a:pPr>
              <a:lnSpc>
                <a:spcPct val="112000"/>
              </a:lnSpc>
              <a:spcBef>
                <a:spcPts val="0"/>
              </a:spcBef>
              <a:spcAft>
                <a:spcPts val="0"/>
              </a:spcAft>
            </a:pPr>
            <a:r>
              <a:rPr sz="2700" b="1" i="0">
                <a:solidFill>
                  <a:srgbClr val="E9F2F4"/>
                </a:solidFill>
                <a:latin typeface="Segoe UI"/>
              </a:rPr>
              <a:t>Every output is a typed record that carries its own parentage.</a:t>
            </a:r>
          </a:p>
        </p:txBody>
      </p:sp>
      <p:sp>
        <p:nvSpPr>
          <p:cNvPr id="6" name="Rounded Rectangle 5"/>
          <p:cNvSpPr/>
          <p:nvPr/>
        </p:nvSpPr>
        <p:spPr>
          <a:xfrm>
            <a:off x="658368" y="2807208"/>
            <a:ext cx="3527450" cy="105156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13816" y="2944367"/>
            <a:ext cx="3216554" cy="777239"/>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WHAT PRODUCED IT</a:t>
            </a:r>
          </a:p>
          <a:p>
            <a:pPr>
              <a:lnSpc>
                <a:spcPct val="138000"/>
              </a:lnSpc>
              <a:spcBef>
                <a:spcPts val="0"/>
              </a:spcBef>
              <a:spcAft>
                <a:spcPts val="0"/>
              </a:spcAft>
            </a:pPr>
            <a:r>
              <a:rPr sz="1100" b="0" i="0">
                <a:solidFill>
                  <a:srgbClr val="A8C0C8"/>
                </a:solidFill>
                <a:latin typeface="Segoe UI"/>
              </a:rPr>
              <a:t>The agent, the model alias, the prompt version, the run.</a:t>
            </a:r>
          </a:p>
        </p:txBody>
      </p:sp>
      <p:sp>
        <p:nvSpPr>
          <p:cNvPr id="8" name="Rounded Rectangle 7"/>
          <p:cNvSpPr/>
          <p:nvPr/>
        </p:nvSpPr>
        <p:spPr>
          <a:xfrm>
            <a:off x="4332122" y="2807208"/>
            <a:ext cx="3527450" cy="105156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487570" y="2944367"/>
            <a:ext cx="3216554" cy="777239"/>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WHAT IT DERIVED FROM</a:t>
            </a:r>
          </a:p>
          <a:p>
            <a:pPr>
              <a:lnSpc>
                <a:spcPct val="138000"/>
              </a:lnSpc>
              <a:spcBef>
                <a:spcPts val="0"/>
              </a:spcBef>
              <a:spcAft>
                <a:spcPts val="0"/>
              </a:spcAft>
            </a:pPr>
            <a:r>
              <a:rPr sz="1100" b="0" i="0">
                <a:solidFill>
                  <a:srgbClr val="A8C0C8"/>
                </a:solidFill>
                <a:latin typeface="Segoe UI"/>
              </a:rPr>
              <a:t>The upstream artifacts, the document page, the drawing region.</a:t>
            </a:r>
          </a:p>
        </p:txBody>
      </p:sp>
      <p:sp>
        <p:nvSpPr>
          <p:cNvPr id="10" name="Rounded Rectangle 9"/>
          <p:cNvSpPr/>
          <p:nvPr/>
        </p:nvSpPr>
        <p:spPr>
          <a:xfrm>
            <a:off x="8005876" y="2807208"/>
            <a:ext cx="3527450" cy="105156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161324" y="2944367"/>
            <a:ext cx="3216554" cy="777239"/>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WHO CONFIRMED IT</a:t>
            </a:r>
          </a:p>
          <a:p>
            <a:pPr>
              <a:lnSpc>
                <a:spcPct val="138000"/>
              </a:lnSpc>
              <a:spcBef>
                <a:spcPts val="0"/>
              </a:spcBef>
              <a:spcAft>
                <a:spcPts val="0"/>
              </a:spcAft>
            </a:pPr>
            <a:r>
              <a:rPr sz="1100" b="0" i="0">
                <a:solidFill>
                  <a:srgbClr val="A8C0C8"/>
                </a:solidFill>
                <a:latin typeface="Segoe UI"/>
              </a:rPr>
              <a:t>The named person, the timestamp, the entry on the audit chain.</a:t>
            </a:r>
          </a:p>
        </p:txBody>
      </p:sp>
      <p:sp>
        <p:nvSpPr>
          <p:cNvPr id="12" name="Rounded Rectangle 11"/>
          <p:cNvSpPr/>
          <p:nvPr/>
        </p:nvSpPr>
        <p:spPr>
          <a:xfrm>
            <a:off x="658368" y="4178808"/>
            <a:ext cx="10874959" cy="1600200"/>
          </a:xfrm>
          <a:prstGeom prst="roundRect">
            <a:avLst>
              <a:gd name="adj" fmla="val 4500"/>
            </a:avLst>
          </a:prstGeom>
          <a:solidFill>
            <a:srgbClr val="0C2F2D"/>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13816" y="4315968"/>
            <a:ext cx="10564063" cy="1325880"/>
          </a:xfrm>
          <a:prstGeom prst="rect">
            <a:avLst/>
          </a:prstGeom>
          <a:noFill/>
        </p:spPr>
        <p:txBody>
          <a:bodyPr wrap="square" anchor="t" lIns="0" rIns="0" tIns="0" bIns="0">
            <a:spAutoFit/>
          </a:bodyPr>
          <a:lstStyle/>
          <a:p>
            <a:pPr>
              <a:spcBef>
                <a:spcPts val="0"/>
              </a:spcBef>
              <a:spcAft>
                <a:spcPts val="600"/>
              </a:spcAft>
            </a:pPr>
            <a:r>
              <a:rPr sz="800" b="0" i="0" spc="130">
                <a:solidFill>
                  <a:srgbClr val="3EDCC2"/>
                </a:solidFill>
                <a:latin typeface="Consolas"/>
              </a:rPr>
              <a:t>AND THE PART NOBODY ELSE DOES</a:t>
            </a:r>
          </a:p>
        </p:txBody>
      </p:sp>
      <p:sp>
        <p:nvSpPr>
          <p:cNvPr id="14" name="TextBox 13"/>
          <p:cNvSpPr txBox="1"/>
          <p:nvPr/>
        </p:nvSpPr>
        <p:spPr>
          <a:xfrm>
            <a:off x="813816" y="4608575"/>
            <a:ext cx="10564063" cy="1097280"/>
          </a:xfrm>
          <a:prstGeom prst="rect">
            <a:avLst/>
          </a:prstGeom>
          <a:noFill/>
        </p:spPr>
        <p:txBody>
          <a:bodyPr wrap="square" anchor="t" lIns="0" rIns="0" tIns="0" bIns="0">
            <a:spAutoFit/>
          </a:bodyPr>
          <a:lstStyle/>
          <a:p>
            <a:pPr>
              <a:lnSpc>
                <a:spcPct val="142000"/>
              </a:lnSpc>
              <a:spcBef>
                <a:spcPts val="0"/>
              </a:spcBef>
              <a:spcAft>
                <a:spcPts val="700"/>
              </a:spcAft>
            </a:pPr>
            <a:r>
              <a:rPr sz="1400" b="0" i="0">
                <a:solidFill>
                  <a:srgbClr val="A8C0C8"/>
                </a:solidFill>
                <a:latin typeface="Segoe UI"/>
              </a:rPr>
              <a:t>Correct a confirmed record and the system keeps your version, records the disagreement against your name, and </a:t>
            </a:r>
            <a:r>
              <a:rPr sz="1400" b="1" i="0">
                <a:solidFill>
                  <a:srgbClr val="E9F2F4"/>
                </a:solidFill>
                <a:latin typeface="Segoe UI"/>
              </a:rPr>
              <a:t>marks every downstream record stale</a:t>
            </a:r>
            <a:r>
              <a:rPr sz="1400" b="0" i="0">
                <a:solidFill>
                  <a:srgbClr val="A8C0C8"/>
                </a:solidFill>
                <a:latin typeface="Segoe UI"/>
              </a:rPr>
              <a:t> — then tells you precisely what needs re-running. Not the correction. The consequences of the correction.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GOVERNANCE  </a:t>
            </a:r>
            <a:r>
              <a:rPr sz="900" b="1" i="0" spc="140">
                <a:solidFill>
                  <a:srgbClr val="3EDCC2"/>
                </a:solidFill>
                <a:latin typeface="Consolas"/>
              </a:rPr>
              <a:t>09  </a:t>
            </a:r>
            <a:r>
              <a:rPr sz="900" b="0" i="0" spc="140">
                <a:solidFill>
                  <a:srgbClr val="7A939E"/>
                </a:solidFill>
                <a:latin typeface="Consolas"/>
              </a:rPr>
              <a:t>AGENTS PROPOSE, HUMANS DISPOSE</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627632"/>
            <a:ext cx="484632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AI does not own authoritative business state.</a:t>
            </a:r>
          </a:p>
        </p:txBody>
      </p:sp>
      <p:sp>
        <p:nvSpPr>
          <p:cNvPr id="6" name="TextBox 5"/>
          <p:cNvSpPr txBox="1"/>
          <p:nvPr/>
        </p:nvSpPr>
        <p:spPr>
          <a:xfrm>
            <a:off x="658368" y="3182112"/>
            <a:ext cx="4846320" cy="914400"/>
          </a:xfrm>
          <a:prstGeom prst="rect">
            <a:avLst/>
          </a:prstGeom>
          <a:noFill/>
        </p:spPr>
        <p:txBody>
          <a:bodyPr wrap="square" anchor="t" lIns="0" rIns="0" tIns="0" bIns="0">
            <a:spAutoFit/>
          </a:bodyPr>
          <a:lstStyle/>
          <a:p>
            <a:pPr>
              <a:lnSpc>
                <a:spcPct val="145000"/>
              </a:lnSpc>
              <a:spcBef>
                <a:spcPts val="0"/>
              </a:spcBef>
              <a:spcAft>
                <a:spcPts val="0"/>
              </a:spcAft>
            </a:pPr>
            <a:r>
              <a:rPr sz="1100" b="0" i="0">
                <a:solidFill>
                  <a:srgbClr val="7A939E"/>
                </a:solidFill>
                <a:latin typeface="Segoe UI"/>
              </a:rPr>
              <a:t>Architecture principle P-02, locked as </a:t>
            </a:r>
            <a:r>
              <a:rPr sz="1100" b="0" i="0">
                <a:solidFill>
                  <a:srgbClr val="A8C0C8"/>
                </a:solidFill>
                <a:latin typeface="Consolas"/>
              </a:rPr>
              <a:t>ADR-003</a:t>
            </a:r>
            <a:r>
              <a:rPr sz="1100" b="0" i="0">
                <a:solidFill>
                  <a:srgbClr val="7A939E"/>
                </a:solidFill>
                <a:latin typeface="Segoe UI"/>
              </a:rPr>
              <a:t>. Not a setting. Not a policy document. A structural property of the ABI.</a:t>
            </a:r>
          </a:p>
        </p:txBody>
      </p:sp>
      <p:sp>
        <p:nvSpPr>
          <p:cNvPr id="7" name="Rounded Rectangle 6"/>
          <p:cNvSpPr/>
          <p:nvPr/>
        </p:nvSpPr>
        <p:spPr>
          <a:xfrm>
            <a:off x="5806440" y="1655064"/>
            <a:ext cx="5724144" cy="141732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961888" y="1792224"/>
            <a:ext cx="5413248" cy="114300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AI PRODUCES</a:t>
            </a:r>
          </a:p>
          <a:p>
            <a:pPr>
              <a:lnSpc>
                <a:spcPct val="138000"/>
              </a:lnSpc>
              <a:spcBef>
                <a:spcPts val="0"/>
              </a:spcBef>
              <a:spcAft>
                <a:spcPts val="0"/>
              </a:spcAft>
            </a:pPr>
            <a:r>
              <a:rPr sz="1150" b="0" i="0">
                <a:solidFill>
                  <a:srgbClr val="A8C0C8"/>
                </a:solidFill>
                <a:latin typeface="Segoe UI"/>
              </a:rPr>
              <a:t>Proposals, extracted facts, classifications, draft artifacts, explanations — each with confidence and provenance attached.</a:t>
            </a:r>
          </a:p>
        </p:txBody>
      </p:sp>
      <p:sp>
        <p:nvSpPr>
          <p:cNvPr id="9" name="Rounded Rectangle 8"/>
          <p:cNvSpPr/>
          <p:nvPr/>
        </p:nvSpPr>
        <p:spPr>
          <a:xfrm>
            <a:off x="5806440" y="3246120"/>
            <a:ext cx="5724144" cy="1417320"/>
          </a:xfrm>
          <a:prstGeom prst="roundRect">
            <a:avLst>
              <a:gd name="adj" fmla="val 4500"/>
            </a:avLst>
          </a:prstGeom>
          <a:solidFill>
            <a:srgbClr val="2C1715"/>
          </a:solidFill>
          <a:ln w="9525">
            <a:solidFill>
              <a:srgbClr val="F0837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61888" y="3383280"/>
            <a:ext cx="5413248" cy="1143000"/>
          </a:xfrm>
          <a:prstGeom prst="rect">
            <a:avLst/>
          </a:prstGeom>
          <a:noFill/>
        </p:spPr>
        <p:txBody>
          <a:bodyPr wrap="square" anchor="t" lIns="0" rIns="0" tIns="0" bIns="0">
            <a:spAutoFit/>
          </a:bodyPr>
          <a:lstStyle/>
          <a:p>
            <a:pPr>
              <a:spcBef>
                <a:spcPts val="0"/>
              </a:spcBef>
              <a:spcAft>
                <a:spcPts val="600"/>
              </a:spcAft>
            </a:pPr>
            <a:r>
              <a:rPr sz="800" b="0" i="0" spc="130">
                <a:solidFill>
                  <a:srgbClr val="F0837B"/>
                </a:solidFill>
                <a:latin typeface="Consolas"/>
              </a:rPr>
              <a:t>AI CANNOT COMMIT</a:t>
            </a:r>
          </a:p>
          <a:p>
            <a:pPr>
              <a:lnSpc>
                <a:spcPct val="138000"/>
              </a:lnSpc>
              <a:spcBef>
                <a:spcPts val="0"/>
              </a:spcBef>
              <a:spcAft>
                <a:spcPts val="0"/>
              </a:spcAft>
            </a:pPr>
            <a:r>
              <a:rPr sz="1150" b="0" i="0">
                <a:solidFill>
                  <a:srgbClr val="A8C0C8"/>
                </a:solidFill>
                <a:latin typeface="Segoe UI"/>
              </a:rPr>
              <a:t>A BOQ change. A schedule baseline. A contract value. A drawing revision. An approval. Any authoritative transaction.</a:t>
            </a:r>
          </a:p>
        </p:txBody>
      </p:sp>
      <p:sp>
        <p:nvSpPr>
          <p:cNvPr id="11" name="TextBox 10"/>
          <p:cNvSpPr txBox="1"/>
          <p:nvPr/>
        </p:nvSpPr>
        <p:spPr>
          <a:xfrm>
            <a:off x="658368" y="5010912"/>
            <a:ext cx="10515600" cy="731520"/>
          </a:xfrm>
          <a:prstGeom prst="rect">
            <a:avLst/>
          </a:prstGeom>
          <a:noFill/>
        </p:spPr>
        <p:txBody>
          <a:bodyPr wrap="square" anchor="t" lIns="0" rIns="0" tIns="0" bIns="0">
            <a:spAutoFit/>
          </a:bodyPr>
          <a:lstStyle/>
          <a:p>
            <a:pPr>
              <a:lnSpc>
                <a:spcPct val="142000"/>
              </a:lnSpc>
              <a:spcBef>
                <a:spcPts val="0"/>
              </a:spcBef>
              <a:spcAft>
                <a:spcPts val="700"/>
              </a:spcAft>
            </a:pPr>
            <a:r>
              <a:rPr sz="1400" b="0" i="0">
                <a:solidFill>
                  <a:srgbClr val="A8C0C8"/>
                </a:solidFill>
                <a:latin typeface="Segoe UI"/>
              </a:rPr>
              <a:t>Confirming is a </a:t>
            </a:r>
            <a:r>
              <a:rPr sz="1400" b="1" i="0">
                <a:solidFill>
                  <a:srgbClr val="E9F2F4"/>
                </a:solidFill>
                <a:latin typeface="Segoe UI"/>
              </a:rPr>
              <a:t>permission</a:t>
            </a:r>
            <a:r>
              <a:rPr sz="1400" b="0" i="0">
                <a:solidFill>
                  <a:srgbClr val="A8C0C8"/>
                </a:solidFill>
                <a:latin typeface="Segoe UI"/>
              </a:rPr>
              <a:t>, held by a person, checked at a choke point. Every confirmation lands on the tamper-evident audit chain against a name and a 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GOVERNANCE  </a:t>
            </a:r>
            <a:r>
              <a:rPr sz="900" b="1" i="0" spc="140">
                <a:solidFill>
                  <a:srgbClr val="3EDCC2"/>
                </a:solidFill>
                <a:latin typeface="Consolas"/>
              </a:rPr>
              <a:t>10  </a:t>
            </a:r>
            <a:r>
              <a:rPr sz="900" b="0" i="0" spc="140">
                <a:solidFill>
                  <a:srgbClr val="7A939E"/>
                </a:solidFill>
                <a:latin typeface="Consolas"/>
              </a:rPr>
              <a:t>THE AI FABRIC</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600200"/>
            <a:ext cx="603504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No module ever calls a model.</a:t>
            </a:r>
          </a:p>
        </p:txBody>
      </p:sp>
      <p:sp>
        <p:nvSpPr>
          <p:cNvPr id="6" name="Rounded Rectangle 5"/>
          <p:cNvSpPr/>
          <p:nvPr/>
        </p:nvSpPr>
        <p:spPr>
          <a:xfrm>
            <a:off x="658368" y="2450592"/>
            <a:ext cx="6400800" cy="420624"/>
          </a:xfrm>
          <a:prstGeom prst="roundRect">
            <a:avLst>
              <a:gd name="adj" fmla="val 12000"/>
            </a:avLst>
          </a:prstGeom>
          <a:solidFill>
            <a:srgbClr val="0C2F2D"/>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04672" y="2551175"/>
            <a:ext cx="274320" cy="274320"/>
          </a:xfrm>
          <a:prstGeom prst="rect">
            <a:avLst/>
          </a:prstGeom>
          <a:noFill/>
        </p:spPr>
        <p:txBody>
          <a:bodyPr wrap="square" anchor="t" lIns="0" rIns="0" tIns="0" bIns="0">
            <a:spAutoFit/>
          </a:bodyPr>
          <a:lstStyle/>
          <a:p>
            <a:r>
              <a:rPr sz="900" b="1" i="0">
                <a:solidFill>
                  <a:srgbClr val="556E79"/>
                </a:solidFill>
                <a:latin typeface="Consolas"/>
              </a:rPr>
              <a:t>1</a:t>
            </a:r>
          </a:p>
        </p:txBody>
      </p:sp>
      <p:sp>
        <p:nvSpPr>
          <p:cNvPr id="8" name="TextBox 7"/>
          <p:cNvSpPr txBox="1"/>
          <p:nvPr/>
        </p:nvSpPr>
        <p:spPr>
          <a:xfrm>
            <a:off x="1097280" y="2532887"/>
            <a:ext cx="3566160" cy="274320"/>
          </a:xfrm>
          <a:prstGeom prst="rect">
            <a:avLst/>
          </a:prstGeom>
          <a:noFill/>
        </p:spPr>
        <p:txBody>
          <a:bodyPr wrap="square" anchor="t" lIns="0" rIns="0" tIns="0" bIns="0">
            <a:spAutoFit/>
          </a:bodyPr>
          <a:lstStyle/>
          <a:p>
            <a:r>
              <a:rPr sz="1200" b="1" i="0">
                <a:solidFill>
                  <a:srgbClr val="E9F2F4"/>
                </a:solidFill>
                <a:latin typeface="Segoe UI"/>
              </a:rPr>
              <a:t>Deterministic software</a:t>
            </a:r>
          </a:p>
        </p:txBody>
      </p:sp>
      <p:sp>
        <p:nvSpPr>
          <p:cNvPr id="9" name="TextBox 8"/>
          <p:cNvSpPr txBox="1"/>
          <p:nvPr/>
        </p:nvSpPr>
        <p:spPr>
          <a:xfrm>
            <a:off x="4636007" y="2560320"/>
            <a:ext cx="2286000" cy="274320"/>
          </a:xfrm>
          <a:prstGeom prst="rect">
            <a:avLst/>
          </a:prstGeom>
          <a:noFill/>
        </p:spPr>
        <p:txBody>
          <a:bodyPr wrap="square" anchor="t" lIns="0" rIns="0" tIns="0" bIns="0">
            <a:spAutoFit/>
          </a:bodyPr>
          <a:lstStyle/>
          <a:p>
            <a:pPr algn="r"/>
            <a:r>
              <a:rPr sz="850" b="0" i="0" spc="100">
                <a:solidFill>
                  <a:srgbClr val="3EDCC2"/>
                </a:solidFill>
                <a:latin typeface="Consolas"/>
              </a:rPr>
              <a:t>DEFAULT</a:t>
            </a:r>
          </a:p>
        </p:txBody>
      </p:sp>
      <p:sp>
        <p:nvSpPr>
          <p:cNvPr id="10" name="Rounded Rectangle 9"/>
          <p:cNvSpPr/>
          <p:nvPr/>
        </p:nvSpPr>
        <p:spPr>
          <a:xfrm>
            <a:off x="658368" y="2953512"/>
            <a:ext cx="6400800" cy="420624"/>
          </a:xfrm>
          <a:prstGeom prst="roundRect">
            <a:avLst>
              <a:gd name="adj" fmla="val 12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04672" y="3054096"/>
            <a:ext cx="274320" cy="274320"/>
          </a:xfrm>
          <a:prstGeom prst="rect">
            <a:avLst/>
          </a:prstGeom>
          <a:noFill/>
        </p:spPr>
        <p:txBody>
          <a:bodyPr wrap="square" anchor="t" lIns="0" rIns="0" tIns="0" bIns="0">
            <a:spAutoFit/>
          </a:bodyPr>
          <a:lstStyle/>
          <a:p>
            <a:r>
              <a:rPr sz="900" b="1" i="0">
                <a:solidFill>
                  <a:srgbClr val="556E79"/>
                </a:solidFill>
                <a:latin typeface="Consolas"/>
              </a:rPr>
              <a:t>2</a:t>
            </a:r>
          </a:p>
        </p:txBody>
      </p:sp>
      <p:sp>
        <p:nvSpPr>
          <p:cNvPr id="12" name="TextBox 11"/>
          <p:cNvSpPr txBox="1"/>
          <p:nvPr/>
        </p:nvSpPr>
        <p:spPr>
          <a:xfrm>
            <a:off x="1097280" y="3035808"/>
            <a:ext cx="3566160" cy="274320"/>
          </a:xfrm>
          <a:prstGeom prst="rect">
            <a:avLst/>
          </a:prstGeom>
          <a:noFill/>
        </p:spPr>
        <p:txBody>
          <a:bodyPr wrap="square" anchor="t" lIns="0" rIns="0" tIns="0" bIns="0">
            <a:spAutoFit/>
          </a:bodyPr>
          <a:lstStyle/>
          <a:p>
            <a:r>
              <a:rPr sz="1200" b="1" i="0">
                <a:solidFill>
                  <a:srgbClr val="E9F2F4"/>
                </a:solidFill>
                <a:latin typeface="Segoe UI"/>
              </a:rPr>
              <a:t>Exact and semantic cache</a:t>
            </a:r>
          </a:p>
        </p:txBody>
      </p:sp>
      <p:sp>
        <p:nvSpPr>
          <p:cNvPr id="13" name="TextBox 12"/>
          <p:cNvSpPr txBox="1"/>
          <p:nvPr/>
        </p:nvSpPr>
        <p:spPr>
          <a:xfrm>
            <a:off x="4636007" y="3063240"/>
            <a:ext cx="2286000" cy="274320"/>
          </a:xfrm>
          <a:prstGeom prst="rect">
            <a:avLst/>
          </a:prstGeom>
          <a:noFill/>
        </p:spPr>
        <p:txBody>
          <a:bodyPr wrap="square" anchor="t" lIns="0" rIns="0" tIns="0" bIns="0">
            <a:spAutoFit/>
          </a:bodyPr>
          <a:lstStyle/>
          <a:p>
            <a:pPr algn="r"/>
            <a:r>
              <a:rPr sz="850" b="0" i="0" spc="100">
                <a:solidFill>
                  <a:srgbClr val="7A939E"/>
                </a:solidFill>
                <a:latin typeface="Consolas"/>
              </a:rPr>
              <a:t>BEFORE INFERENCE</a:t>
            </a:r>
          </a:p>
        </p:txBody>
      </p:sp>
      <p:sp>
        <p:nvSpPr>
          <p:cNvPr id="14" name="Rounded Rectangle 13"/>
          <p:cNvSpPr/>
          <p:nvPr/>
        </p:nvSpPr>
        <p:spPr>
          <a:xfrm>
            <a:off x="658368" y="3456432"/>
            <a:ext cx="6400800" cy="420624"/>
          </a:xfrm>
          <a:prstGeom prst="roundRect">
            <a:avLst>
              <a:gd name="adj" fmla="val 12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04672" y="3557016"/>
            <a:ext cx="274320" cy="274320"/>
          </a:xfrm>
          <a:prstGeom prst="rect">
            <a:avLst/>
          </a:prstGeom>
          <a:noFill/>
        </p:spPr>
        <p:txBody>
          <a:bodyPr wrap="square" anchor="t" lIns="0" rIns="0" tIns="0" bIns="0">
            <a:spAutoFit/>
          </a:bodyPr>
          <a:lstStyle/>
          <a:p>
            <a:r>
              <a:rPr sz="900" b="1" i="0">
                <a:solidFill>
                  <a:srgbClr val="556E79"/>
                </a:solidFill>
                <a:latin typeface="Consolas"/>
              </a:rPr>
              <a:t>3</a:t>
            </a:r>
          </a:p>
        </p:txBody>
      </p:sp>
      <p:sp>
        <p:nvSpPr>
          <p:cNvPr id="16" name="TextBox 15"/>
          <p:cNvSpPr txBox="1"/>
          <p:nvPr/>
        </p:nvSpPr>
        <p:spPr>
          <a:xfrm>
            <a:off x="1097280" y="3538728"/>
            <a:ext cx="3566160" cy="274320"/>
          </a:xfrm>
          <a:prstGeom prst="rect">
            <a:avLst/>
          </a:prstGeom>
          <a:noFill/>
        </p:spPr>
        <p:txBody>
          <a:bodyPr wrap="square" anchor="t" lIns="0" rIns="0" tIns="0" bIns="0">
            <a:spAutoFit/>
          </a:bodyPr>
          <a:lstStyle/>
          <a:p>
            <a:r>
              <a:rPr sz="1200" b="1" i="0">
                <a:solidFill>
                  <a:srgbClr val="E9F2F4"/>
                </a:solidFill>
                <a:latin typeface="Segoe UI"/>
              </a:rPr>
              <a:t>Structured retrieval</a:t>
            </a:r>
          </a:p>
        </p:txBody>
      </p:sp>
      <p:sp>
        <p:nvSpPr>
          <p:cNvPr id="17" name="TextBox 16"/>
          <p:cNvSpPr txBox="1"/>
          <p:nvPr/>
        </p:nvSpPr>
        <p:spPr>
          <a:xfrm>
            <a:off x="4636007" y="3566160"/>
            <a:ext cx="2286000" cy="274320"/>
          </a:xfrm>
          <a:prstGeom prst="rect">
            <a:avLst/>
          </a:prstGeom>
          <a:noFill/>
        </p:spPr>
        <p:txBody>
          <a:bodyPr wrap="square" anchor="t" lIns="0" rIns="0" tIns="0" bIns="0">
            <a:spAutoFit/>
          </a:bodyPr>
          <a:lstStyle/>
          <a:p>
            <a:pPr algn="r"/>
            <a:r>
              <a:rPr sz="850" b="0" i="0" spc="100">
                <a:solidFill>
                  <a:srgbClr val="7A939E"/>
                </a:solidFill>
                <a:latin typeface="Consolas"/>
              </a:rPr>
              <a:t>BEFORE LONG CONTEXT</a:t>
            </a:r>
          </a:p>
        </p:txBody>
      </p:sp>
      <p:sp>
        <p:nvSpPr>
          <p:cNvPr id="18" name="Rounded Rectangle 17"/>
          <p:cNvSpPr/>
          <p:nvPr/>
        </p:nvSpPr>
        <p:spPr>
          <a:xfrm>
            <a:off x="658368" y="3959352"/>
            <a:ext cx="6400800" cy="420624"/>
          </a:xfrm>
          <a:prstGeom prst="roundRect">
            <a:avLst>
              <a:gd name="adj" fmla="val 12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04672" y="4059935"/>
            <a:ext cx="274320" cy="274320"/>
          </a:xfrm>
          <a:prstGeom prst="rect">
            <a:avLst/>
          </a:prstGeom>
          <a:noFill/>
        </p:spPr>
        <p:txBody>
          <a:bodyPr wrap="square" anchor="t" lIns="0" rIns="0" tIns="0" bIns="0">
            <a:spAutoFit/>
          </a:bodyPr>
          <a:lstStyle/>
          <a:p>
            <a:r>
              <a:rPr sz="900" b="1" i="0">
                <a:solidFill>
                  <a:srgbClr val="556E79"/>
                </a:solidFill>
                <a:latin typeface="Consolas"/>
              </a:rPr>
              <a:t>4</a:t>
            </a:r>
          </a:p>
        </p:txBody>
      </p:sp>
      <p:sp>
        <p:nvSpPr>
          <p:cNvPr id="20" name="TextBox 19"/>
          <p:cNvSpPr txBox="1"/>
          <p:nvPr/>
        </p:nvSpPr>
        <p:spPr>
          <a:xfrm>
            <a:off x="1097280" y="4041647"/>
            <a:ext cx="3566160" cy="274320"/>
          </a:xfrm>
          <a:prstGeom prst="rect">
            <a:avLst/>
          </a:prstGeom>
          <a:noFill/>
        </p:spPr>
        <p:txBody>
          <a:bodyPr wrap="square" anchor="t" lIns="0" rIns="0" tIns="0" bIns="0">
            <a:spAutoFit/>
          </a:bodyPr>
          <a:lstStyle/>
          <a:p>
            <a:r>
              <a:rPr sz="1200" b="1" i="0">
                <a:solidFill>
                  <a:srgbClr val="E9F2F4"/>
                </a:solidFill>
                <a:latin typeface="Segoe UI"/>
              </a:rPr>
              <a:t>Small private model</a:t>
            </a:r>
          </a:p>
        </p:txBody>
      </p:sp>
      <p:sp>
        <p:nvSpPr>
          <p:cNvPr id="21" name="TextBox 20"/>
          <p:cNvSpPr txBox="1"/>
          <p:nvPr/>
        </p:nvSpPr>
        <p:spPr>
          <a:xfrm>
            <a:off x="4636007" y="4069080"/>
            <a:ext cx="2286000" cy="274320"/>
          </a:xfrm>
          <a:prstGeom prst="rect">
            <a:avLst/>
          </a:prstGeom>
          <a:noFill/>
        </p:spPr>
        <p:txBody>
          <a:bodyPr wrap="square" anchor="t" lIns="0" rIns="0" tIns="0" bIns="0">
            <a:spAutoFit/>
          </a:bodyPr>
          <a:lstStyle/>
          <a:p>
            <a:pPr algn="r"/>
            <a:r>
              <a:rPr sz="850" b="0" i="0" spc="100">
                <a:solidFill>
                  <a:srgbClr val="7A939E"/>
                </a:solidFill>
                <a:latin typeface="Consolas"/>
              </a:rPr>
              <a:t>CLASSIFICATION</a:t>
            </a:r>
          </a:p>
        </p:txBody>
      </p:sp>
      <p:sp>
        <p:nvSpPr>
          <p:cNvPr id="22" name="Rounded Rectangle 21"/>
          <p:cNvSpPr/>
          <p:nvPr/>
        </p:nvSpPr>
        <p:spPr>
          <a:xfrm>
            <a:off x="658368" y="4462271"/>
            <a:ext cx="6400800" cy="420624"/>
          </a:xfrm>
          <a:prstGeom prst="roundRect">
            <a:avLst>
              <a:gd name="adj" fmla="val 12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04672" y="4562856"/>
            <a:ext cx="274320" cy="274320"/>
          </a:xfrm>
          <a:prstGeom prst="rect">
            <a:avLst/>
          </a:prstGeom>
          <a:noFill/>
        </p:spPr>
        <p:txBody>
          <a:bodyPr wrap="square" anchor="t" lIns="0" rIns="0" tIns="0" bIns="0">
            <a:spAutoFit/>
          </a:bodyPr>
          <a:lstStyle/>
          <a:p>
            <a:r>
              <a:rPr sz="900" b="1" i="0">
                <a:solidFill>
                  <a:srgbClr val="556E79"/>
                </a:solidFill>
                <a:latin typeface="Consolas"/>
              </a:rPr>
              <a:t>5</a:t>
            </a:r>
          </a:p>
        </p:txBody>
      </p:sp>
      <p:sp>
        <p:nvSpPr>
          <p:cNvPr id="24" name="TextBox 23"/>
          <p:cNvSpPr txBox="1"/>
          <p:nvPr/>
        </p:nvSpPr>
        <p:spPr>
          <a:xfrm>
            <a:off x="1097280" y="4544567"/>
            <a:ext cx="3566160" cy="274320"/>
          </a:xfrm>
          <a:prstGeom prst="rect">
            <a:avLst/>
          </a:prstGeom>
          <a:noFill/>
        </p:spPr>
        <p:txBody>
          <a:bodyPr wrap="square" anchor="t" lIns="0" rIns="0" tIns="0" bIns="0">
            <a:spAutoFit/>
          </a:bodyPr>
          <a:lstStyle/>
          <a:p>
            <a:r>
              <a:rPr sz="1200" b="1" i="0">
                <a:solidFill>
                  <a:srgbClr val="E9F2F4"/>
                </a:solidFill>
                <a:latin typeface="Segoe UI"/>
              </a:rPr>
              <a:t>Private reasoning model</a:t>
            </a:r>
          </a:p>
        </p:txBody>
      </p:sp>
      <p:sp>
        <p:nvSpPr>
          <p:cNvPr id="25" name="TextBox 24"/>
          <p:cNvSpPr txBox="1"/>
          <p:nvPr/>
        </p:nvSpPr>
        <p:spPr>
          <a:xfrm>
            <a:off x="4636007" y="4572000"/>
            <a:ext cx="2286000" cy="274320"/>
          </a:xfrm>
          <a:prstGeom prst="rect">
            <a:avLst/>
          </a:prstGeom>
          <a:noFill/>
        </p:spPr>
        <p:txBody>
          <a:bodyPr wrap="square" anchor="t" lIns="0" rIns="0" tIns="0" bIns="0">
            <a:spAutoFit/>
          </a:bodyPr>
          <a:lstStyle/>
          <a:p>
            <a:pPr algn="r"/>
            <a:r>
              <a:rPr sz="850" b="0" i="0" spc="100">
                <a:solidFill>
                  <a:srgbClr val="7A939E"/>
                </a:solidFill>
                <a:latin typeface="Consolas"/>
              </a:rPr>
              <a:t>EXTRACTION</a:t>
            </a:r>
          </a:p>
        </p:txBody>
      </p:sp>
      <p:sp>
        <p:nvSpPr>
          <p:cNvPr id="26" name="Rounded Rectangle 25"/>
          <p:cNvSpPr/>
          <p:nvPr/>
        </p:nvSpPr>
        <p:spPr>
          <a:xfrm>
            <a:off x="658368" y="4965192"/>
            <a:ext cx="6400800" cy="420624"/>
          </a:xfrm>
          <a:prstGeom prst="roundRect">
            <a:avLst>
              <a:gd name="adj" fmla="val 12000"/>
            </a:avLst>
          </a:prstGeom>
          <a:solidFill>
            <a:srgbClr val="2A2110"/>
          </a:solidFill>
          <a:ln w="9525">
            <a:solidFill>
              <a:srgbClr val="E0A85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04672" y="5065776"/>
            <a:ext cx="274320" cy="274320"/>
          </a:xfrm>
          <a:prstGeom prst="rect">
            <a:avLst/>
          </a:prstGeom>
          <a:noFill/>
        </p:spPr>
        <p:txBody>
          <a:bodyPr wrap="square" anchor="t" lIns="0" rIns="0" tIns="0" bIns="0">
            <a:spAutoFit/>
          </a:bodyPr>
          <a:lstStyle/>
          <a:p>
            <a:r>
              <a:rPr sz="900" b="1" i="0">
                <a:solidFill>
                  <a:srgbClr val="556E79"/>
                </a:solidFill>
                <a:latin typeface="Consolas"/>
              </a:rPr>
              <a:t>6</a:t>
            </a:r>
          </a:p>
        </p:txBody>
      </p:sp>
      <p:sp>
        <p:nvSpPr>
          <p:cNvPr id="28" name="TextBox 27"/>
          <p:cNvSpPr txBox="1"/>
          <p:nvPr/>
        </p:nvSpPr>
        <p:spPr>
          <a:xfrm>
            <a:off x="1097280" y="5047488"/>
            <a:ext cx="3566160" cy="274320"/>
          </a:xfrm>
          <a:prstGeom prst="rect">
            <a:avLst/>
          </a:prstGeom>
          <a:noFill/>
        </p:spPr>
        <p:txBody>
          <a:bodyPr wrap="square" anchor="t" lIns="0" rIns="0" tIns="0" bIns="0">
            <a:spAutoFit/>
          </a:bodyPr>
          <a:lstStyle/>
          <a:p>
            <a:r>
              <a:rPr sz="1200" b="1" i="0">
                <a:solidFill>
                  <a:srgbClr val="E9F2F4"/>
                </a:solidFill>
                <a:latin typeface="Segoe UI"/>
              </a:rPr>
              <a:t>Frontier model</a:t>
            </a:r>
          </a:p>
        </p:txBody>
      </p:sp>
      <p:sp>
        <p:nvSpPr>
          <p:cNvPr id="29" name="TextBox 28"/>
          <p:cNvSpPr txBox="1"/>
          <p:nvPr/>
        </p:nvSpPr>
        <p:spPr>
          <a:xfrm>
            <a:off x="4636007" y="5074920"/>
            <a:ext cx="2286000" cy="274320"/>
          </a:xfrm>
          <a:prstGeom prst="rect">
            <a:avLst/>
          </a:prstGeom>
          <a:noFill/>
        </p:spPr>
        <p:txBody>
          <a:bodyPr wrap="square" anchor="t" lIns="0" rIns="0" tIns="0" bIns="0">
            <a:spAutoFit/>
          </a:bodyPr>
          <a:lstStyle/>
          <a:p>
            <a:pPr algn="r"/>
            <a:r>
              <a:rPr sz="850" b="0" i="0" spc="100">
                <a:solidFill>
                  <a:srgbClr val="E0A85A"/>
                </a:solidFill>
                <a:latin typeface="Consolas"/>
              </a:rPr>
              <a:t>ESCALATION ONLY</a:t>
            </a:r>
          </a:p>
        </p:txBody>
      </p:sp>
      <p:sp>
        <p:nvSpPr>
          <p:cNvPr id="30" name="Rounded Rectangle 29"/>
          <p:cNvSpPr/>
          <p:nvPr/>
        </p:nvSpPr>
        <p:spPr>
          <a:xfrm>
            <a:off x="7360920" y="1655064"/>
            <a:ext cx="4169663" cy="1298448"/>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516368" y="1792224"/>
            <a:ext cx="3858768" cy="1024127"/>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MODEL INDEPENDENCE</a:t>
            </a:r>
          </a:p>
          <a:p>
            <a:pPr>
              <a:lnSpc>
                <a:spcPct val="138000"/>
              </a:lnSpc>
              <a:spcBef>
                <a:spcPts val="0"/>
              </a:spcBef>
              <a:spcAft>
                <a:spcPts val="0"/>
              </a:spcAft>
            </a:pPr>
            <a:r>
              <a:rPr sz="1100" b="0" i="0">
                <a:solidFill>
                  <a:srgbClr val="A8C0C8"/>
                </a:solidFill>
                <a:latin typeface="Segoe UI"/>
              </a:rPr>
              <a:t>Code references aliases — </a:t>
            </a:r>
            <a:r>
              <a:rPr sz="1000" b="0" i="0">
                <a:solidFill>
                  <a:srgbClr val="E9F2F4"/>
                </a:solidFill>
                <a:latin typeface="Consolas"/>
              </a:rPr>
              <a:t>preckon-reasoning</a:t>
            </a:r>
            <a:r>
              <a:rPr sz="1100" b="0" i="0">
                <a:solidFill>
                  <a:srgbClr val="A8C0C8"/>
                </a:solidFill>
                <a:latin typeface="Segoe UI"/>
              </a:rPr>
              <a:t> — never a vendor or a model name. Swapping providers is a registry change.</a:t>
            </a:r>
          </a:p>
        </p:txBody>
      </p:sp>
      <p:sp>
        <p:nvSpPr>
          <p:cNvPr id="32" name="Rounded Rectangle 31"/>
          <p:cNvSpPr/>
          <p:nvPr/>
        </p:nvSpPr>
        <p:spPr>
          <a:xfrm>
            <a:off x="7360920" y="3118104"/>
            <a:ext cx="4169663" cy="118872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516368" y="3255264"/>
            <a:ext cx="3858768" cy="91440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POLICY BEATS CAPABILITY</a:t>
            </a:r>
          </a:p>
          <a:p>
            <a:pPr>
              <a:lnSpc>
                <a:spcPct val="138000"/>
              </a:lnSpc>
              <a:spcBef>
                <a:spcPts val="0"/>
              </a:spcBef>
              <a:spcAft>
                <a:spcPts val="0"/>
              </a:spcAft>
            </a:pPr>
            <a:r>
              <a:rPr sz="1100" b="0" i="0">
                <a:solidFill>
                  <a:srgbClr val="A8C0C8"/>
                </a:solidFill>
                <a:latin typeface="Segoe UI"/>
              </a:rPr>
              <a:t>A restricted document does not leave its approved boundary because an external model happens to be better at the task.</a:t>
            </a:r>
          </a:p>
        </p:txBody>
      </p:sp>
      <p:sp>
        <p:nvSpPr>
          <p:cNvPr id="34" name="Rounded Rectangle 33"/>
          <p:cNvSpPr/>
          <p:nvPr/>
        </p:nvSpPr>
        <p:spPr>
          <a:xfrm>
            <a:off x="7360920" y="4471416"/>
            <a:ext cx="4169663" cy="1298448"/>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516368" y="4608576"/>
            <a:ext cx="3858768" cy="1024127"/>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EVERY CALL HAS ECONOMICS</a:t>
            </a:r>
          </a:p>
          <a:p>
            <a:pPr>
              <a:lnSpc>
                <a:spcPct val="138000"/>
              </a:lnSpc>
              <a:spcBef>
                <a:spcPts val="0"/>
              </a:spcBef>
              <a:spcAft>
                <a:spcPts val="0"/>
              </a:spcAft>
            </a:pPr>
            <a:r>
              <a:rPr sz="1100" b="0" i="0">
                <a:solidFill>
                  <a:srgbClr val="A8C0C8"/>
                </a:solidFill>
                <a:latin typeface="Segoe UI"/>
              </a:rPr>
              <a:t>Attributed per attempt to tenant, project, user, module, task, route, tokens and cost. AI spend is a product KPI, not an invoice surprise.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GOVERNANCE  </a:t>
            </a:r>
            <a:r>
              <a:rPr sz="900" b="1" i="0" spc="140">
                <a:solidFill>
                  <a:srgbClr val="3EDCC2"/>
                </a:solidFill>
                <a:latin typeface="Consolas"/>
              </a:rPr>
              <a:t>11  </a:t>
            </a:r>
            <a:r>
              <a:rPr sz="900" b="0" i="0" spc="140">
                <a:solidFill>
                  <a:srgbClr val="7A939E"/>
                </a:solidFill>
                <a:latin typeface="Consolas"/>
              </a:rPr>
              <a:t>TRUST FOUNDATIONS</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2560320"/>
            <a:ext cx="2622727" cy="22402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13816" y="2697480"/>
            <a:ext cx="2311831" cy="19659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AUDIT</a:t>
            </a:r>
          </a:p>
          <a:p>
            <a:pPr>
              <a:spcBef>
                <a:spcPts val="0"/>
              </a:spcBef>
              <a:spcAft>
                <a:spcPts val="500"/>
              </a:spcAft>
            </a:pPr>
            <a:r>
              <a:rPr sz="1200" b="1" i="0">
                <a:solidFill>
                  <a:srgbClr val="E9F2F4"/>
                </a:solidFill>
                <a:latin typeface="Segoe UI"/>
              </a:rPr>
              <a:t>Hash-chained</a:t>
            </a:r>
          </a:p>
          <a:p>
            <a:pPr>
              <a:lnSpc>
                <a:spcPct val="138000"/>
              </a:lnSpc>
              <a:spcBef>
                <a:spcPts val="0"/>
              </a:spcBef>
              <a:spcAft>
                <a:spcPts val="0"/>
              </a:spcAft>
            </a:pPr>
            <a:r>
              <a:rPr sz="1100" b="0" i="0">
                <a:solidFill>
                  <a:srgbClr val="A8C0C8"/>
                </a:solidFill>
                <a:latin typeface="Segoe UI"/>
              </a:rPr>
              <a:t>Append-only, tamper-evident, and verifiable from the interface — one button, in front of the customer.</a:t>
            </a:r>
          </a:p>
        </p:txBody>
      </p:sp>
      <p:sp>
        <p:nvSpPr>
          <p:cNvPr id="7" name="Rounded Rectangle 6"/>
          <p:cNvSpPr/>
          <p:nvPr/>
        </p:nvSpPr>
        <p:spPr>
          <a:xfrm>
            <a:off x="3409111" y="2560320"/>
            <a:ext cx="2622727" cy="22402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3564559" y="2697480"/>
            <a:ext cx="2311831" cy="19659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ISOLATION</a:t>
            </a:r>
          </a:p>
          <a:p>
            <a:pPr>
              <a:spcBef>
                <a:spcPts val="0"/>
              </a:spcBef>
              <a:spcAft>
                <a:spcPts val="500"/>
              </a:spcAft>
            </a:pPr>
            <a:r>
              <a:rPr sz="1200" b="1" i="0">
                <a:solidFill>
                  <a:srgbClr val="E9F2F4"/>
                </a:solidFill>
                <a:latin typeface="Segoe UI"/>
              </a:rPr>
              <a:t>One choke point</a:t>
            </a:r>
          </a:p>
          <a:p>
            <a:pPr>
              <a:lnSpc>
                <a:spcPct val="138000"/>
              </a:lnSpc>
              <a:spcBef>
                <a:spcPts val="0"/>
              </a:spcBef>
              <a:spcAft>
                <a:spcPts val="0"/>
              </a:spcAft>
            </a:pPr>
            <a:r>
              <a:rPr sz="1100" b="0" i="0">
                <a:solidFill>
                  <a:srgbClr val="A8C0C8"/>
                </a:solidFill>
                <a:latin typeface="Segoe UI"/>
              </a:rPr>
              <a:t>Every tenant-scoped query passes a single enforced path. A cross-tenant read returning zero rows is an assertion in the test suite.</a:t>
            </a:r>
          </a:p>
        </p:txBody>
      </p:sp>
      <p:sp>
        <p:nvSpPr>
          <p:cNvPr id="9" name="Rounded Rectangle 8"/>
          <p:cNvSpPr/>
          <p:nvPr/>
        </p:nvSpPr>
        <p:spPr>
          <a:xfrm>
            <a:off x="6159855" y="2560320"/>
            <a:ext cx="2622727" cy="22402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315303" y="2697480"/>
            <a:ext cx="2311831" cy="19659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PROVENANCE</a:t>
            </a:r>
          </a:p>
          <a:p>
            <a:pPr>
              <a:spcBef>
                <a:spcPts val="0"/>
              </a:spcBef>
              <a:spcAft>
                <a:spcPts val="500"/>
              </a:spcAft>
            </a:pPr>
            <a:r>
              <a:rPr sz="1200" b="1" i="0">
                <a:solidFill>
                  <a:srgbClr val="E9F2F4"/>
                </a:solidFill>
                <a:latin typeface="Segoe UI"/>
              </a:rPr>
              <a:t>On every derived value</a:t>
            </a:r>
          </a:p>
          <a:p>
            <a:pPr>
              <a:lnSpc>
                <a:spcPct val="138000"/>
              </a:lnSpc>
              <a:spcBef>
                <a:spcPts val="0"/>
              </a:spcBef>
              <a:spcAft>
                <a:spcPts val="0"/>
              </a:spcAft>
            </a:pPr>
            <a:r>
              <a:rPr sz="1100" b="0" i="0">
                <a:solidFill>
                  <a:srgbClr val="A8C0C8"/>
                </a:solidFill>
                <a:latin typeface="Segoe UI"/>
              </a:rPr>
              <a:t>Source, version, rule and model recorded at the moment of derivation, not reconstructed later.</a:t>
            </a:r>
          </a:p>
        </p:txBody>
      </p:sp>
      <p:sp>
        <p:nvSpPr>
          <p:cNvPr id="11" name="Rounded Rectangle 10"/>
          <p:cNvSpPr/>
          <p:nvPr/>
        </p:nvSpPr>
        <p:spPr>
          <a:xfrm>
            <a:off x="8910599" y="2560320"/>
            <a:ext cx="2622727" cy="22402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066047" y="2697480"/>
            <a:ext cx="2311831" cy="19659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DURABILITY</a:t>
            </a:r>
          </a:p>
          <a:p>
            <a:pPr>
              <a:spcBef>
                <a:spcPts val="0"/>
              </a:spcBef>
              <a:spcAft>
                <a:spcPts val="500"/>
              </a:spcAft>
            </a:pPr>
            <a:r>
              <a:rPr sz="1200" b="1" i="0">
                <a:solidFill>
                  <a:srgbClr val="E9F2F4"/>
                </a:solidFill>
                <a:latin typeface="Segoe UI"/>
              </a:rPr>
              <a:t>State in the database</a:t>
            </a:r>
          </a:p>
          <a:p>
            <a:pPr>
              <a:lnSpc>
                <a:spcPct val="138000"/>
              </a:lnSpc>
              <a:spcBef>
                <a:spcPts val="0"/>
              </a:spcBef>
              <a:spcAft>
                <a:spcPts val="0"/>
              </a:spcAft>
            </a:pPr>
            <a:r>
              <a:rPr sz="1100" b="0" i="0">
                <a:solidFill>
                  <a:srgbClr val="A8C0C8"/>
                </a:solidFill>
                <a:latin typeface="Segoe UI"/>
              </a:rPr>
              <a:t>Jobs, gates and re-plans are durable rows, not in-memory queues. A restart resumes; it does not lose the run.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58368" y="493776"/>
            <a:ext cx="82296" cy="82296"/>
          </a:xfrm>
          <a:prstGeom prst="ellipse">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57200"/>
            <a:ext cx="5486400" cy="219456"/>
          </a:xfrm>
          <a:prstGeom prst="rect">
            <a:avLst/>
          </a:prstGeom>
          <a:noFill/>
        </p:spPr>
        <p:txBody>
          <a:bodyPr wrap="square" anchor="t" lIns="0" rIns="0" tIns="0" bIns="0">
            <a:spAutoFit/>
          </a:bodyPr>
          <a:lstStyle/>
          <a:p>
            <a:r>
              <a:rPr sz="950" b="1" i="0" spc="160">
                <a:solidFill>
                  <a:srgbClr val="3EDCC2"/>
                </a:solidFill>
                <a:latin typeface="Consolas"/>
              </a:rPr>
              <a:t>LIVE WORKSPACE</a:t>
            </a:r>
          </a:p>
        </p:txBody>
      </p:sp>
      <p:sp>
        <p:nvSpPr>
          <p:cNvPr id="5" name="TextBox 4"/>
          <p:cNvSpPr txBox="1"/>
          <p:nvPr/>
        </p:nvSpPr>
        <p:spPr>
          <a:xfrm>
            <a:off x="658368" y="1879092"/>
            <a:ext cx="8686800" cy="1463040"/>
          </a:xfrm>
          <a:prstGeom prst="rect">
            <a:avLst/>
          </a:prstGeom>
          <a:noFill/>
        </p:spPr>
        <p:txBody>
          <a:bodyPr wrap="square" anchor="t" lIns="0" rIns="0" tIns="0" bIns="0">
            <a:spAutoFit/>
          </a:bodyPr>
          <a:lstStyle/>
          <a:p>
            <a:pPr>
              <a:lnSpc>
                <a:spcPct val="112000"/>
              </a:lnSpc>
              <a:spcBef>
                <a:spcPts val="0"/>
              </a:spcBef>
              <a:spcAft>
                <a:spcPts val="0"/>
              </a:spcAft>
            </a:pPr>
            <a:r>
              <a:rPr sz="3400" b="1" i="0">
                <a:solidFill>
                  <a:srgbClr val="E9F2F4"/>
                </a:solidFill>
                <a:latin typeface="Segoe UI"/>
              </a:rPr>
              <a:t>Five minutes on the running system.</a:t>
            </a:r>
          </a:p>
        </p:txBody>
      </p:sp>
      <p:sp>
        <p:nvSpPr>
          <p:cNvPr id="6" name="TextBox 5"/>
          <p:cNvSpPr txBox="1"/>
          <p:nvPr/>
        </p:nvSpPr>
        <p:spPr>
          <a:xfrm>
            <a:off x="658368" y="2747772"/>
            <a:ext cx="8686800" cy="274320"/>
          </a:xfrm>
          <a:prstGeom prst="rect">
            <a:avLst/>
          </a:prstGeom>
          <a:noFill/>
        </p:spPr>
        <p:txBody>
          <a:bodyPr wrap="square" anchor="t" lIns="0" rIns="0" tIns="0" bIns="0">
            <a:spAutoFit/>
          </a:bodyPr>
          <a:lstStyle/>
          <a:p>
            <a:r>
              <a:rPr sz="1050" b="0" i="0">
                <a:solidFill>
                  <a:srgbClr val="7A939E"/>
                </a:solidFill>
                <a:latin typeface="Consolas"/>
              </a:rPr>
              <a:t>app.preckon.com — a real tenant, real documents, nothing pre-rendered</a:t>
            </a:r>
          </a:p>
        </p:txBody>
      </p:sp>
      <p:sp>
        <p:nvSpPr>
          <p:cNvPr id="7" name="Rounded Rectangle 6"/>
          <p:cNvSpPr/>
          <p:nvPr/>
        </p:nvSpPr>
        <p:spPr>
          <a:xfrm>
            <a:off x="658368" y="3525012"/>
            <a:ext cx="2629585" cy="1965960"/>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04672" y="3680460"/>
            <a:ext cx="2336977" cy="1691640"/>
          </a:xfrm>
          <a:prstGeom prst="rect">
            <a:avLst/>
          </a:prstGeom>
          <a:noFill/>
        </p:spPr>
        <p:txBody>
          <a:bodyPr wrap="square" anchor="t" lIns="0" rIns="0" tIns="0" bIns="0">
            <a:spAutoFit/>
          </a:bodyPr>
          <a:lstStyle/>
          <a:p>
            <a:pPr>
              <a:spcBef>
                <a:spcPts val="0"/>
              </a:spcBef>
              <a:spcAft>
                <a:spcPts val="800"/>
              </a:spcAft>
            </a:pPr>
            <a:r>
              <a:rPr sz="850" b="1" i="0" spc="120">
                <a:solidFill>
                  <a:srgbClr val="3EDCC2"/>
                </a:solidFill>
                <a:latin typeface="Consolas"/>
              </a:rPr>
              <a:t>BEAT 01 · 60S</a:t>
            </a:r>
          </a:p>
          <a:p>
            <a:pPr>
              <a:spcBef>
                <a:spcPts val="0"/>
              </a:spcBef>
              <a:spcAft>
                <a:spcPts val="500"/>
              </a:spcAft>
            </a:pPr>
            <a:r>
              <a:rPr sz="1350" b="1" i="0">
                <a:solidFill>
                  <a:srgbClr val="E9F2F4"/>
                </a:solidFill>
                <a:latin typeface="Segoe UI"/>
              </a:rPr>
              <a:t>Propose</a:t>
            </a:r>
          </a:p>
          <a:p>
            <a:pPr>
              <a:lnSpc>
                <a:spcPct val="140000"/>
              </a:lnSpc>
              <a:spcBef>
                <a:spcPts val="0"/>
              </a:spcBef>
              <a:spcAft>
                <a:spcPts val="0"/>
              </a:spcAft>
            </a:pPr>
            <a:r>
              <a:rPr sz="1000" b="0" i="0">
                <a:solidFill>
                  <a:srgbClr val="A8C0C8"/>
                </a:solidFill>
                <a:latin typeface="Segoe UI"/>
              </a:rPr>
              <a:t>Open a live bid. Run a stage. Agents read the tender and the drawings and produce proposals — nothing is committed.</a:t>
            </a:r>
          </a:p>
        </p:txBody>
      </p:sp>
      <p:sp>
        <p:nvSpPr>
          <p:cNvPr id="9" name="Rounded Rectangle 8"/>
          <p:cNvSpPr/>
          <p:nvPr/>
        </p:nvSpPr>
        <p:spPr>
          <a:xfrm>
            <a:off x="3406825" y="3525012"/>
            <a:ext cx="2629585" cy="1965960"/>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553129" y="3680460"/>
            <a:ext cx="2336977" cy="1691640"/>
          </a:xfrm>
          <a:prstGeom prst="rect">
            <a:avLst/>
          </a:prstGeom>
          <a:noFill/>
        </p:spPr>
        <p:txBody>
          <a:bodyPr wrap="square" anchor="t" lIns="0" rIns="0" tIns="0" bIns="0">
            <a:spAutoFit/>
          </a:bodyPr>
          <a:lstStyle/>
          <a:p>
            <a:pPr>
              <a:spcBef>
                <a:spcPts val="0"/>
              </a:spcBef>
              <a:spcAft>
                <a:spcPts val="800"/>
              </a:spcAft>
            </a:pPr>
            <a:r>
              <a:rPr sz="850" b="1" i="0" spc="120">
                <a:solidFill>
                  <a:srgbClr val="3EDCC2"/>
                </a:solidFill>
                <a:latin typeface="Consolas"/>
              </a:rPr>
              <a:t>BEAT 02 · 60S</a:t>
            </a:r>
          </a:p>
          <a:p>
            <a:pPr>
              <a:spcBef>
                <a:spcPts val="0"/>
              </a:spcBef>
              <a:spcAft>
                <a:spcPts val="500"/>
              </a:spcAft>
            </a:pPr>
            <a:r>
              <a:rPr sz="1350" b="1" i="0">
                <a:solidFill>
                  <a:srgbClr val="E9F2F4"/>
                </a:solidFill>
                <a:latin typeface="Segoe UI"/>
              </a:rPr>
              <a:t>Dispose</a:t>
            </a:r>
          </a:p>
          <a:p>
            <a:pPr>
              <a:lnSpc>
                <a:spcPct val="140000"/>
              </a:lnSpc>
              <a:spcBef>
                <a:spcPts val="0"/>
              </a:spcBef>
              <a:spcAft>
                <a:spcPts val="0"/>
              </a:spcAft>
            </a:pPr>
            <a:r>
              <a:rPr sz="1000" b="0" i="0">
                <a:solidFill>
                  <a:srgbClr val="A8C0C8"/>
                </a:solidFill>
                <a:latin typeface="Segoe UI"/>
              </a:rPr>
              <a:t>The review queue. Confirm one, reject one. Watch the bid pursuit advance because a human decided, not because a card was dragged.</a:t>
            </a:r>
          </a:p>
        </p:txBody>
      </p:sp>
      <p:sp>
        <p:nvSpPr>
          <p:cNvPr id="11" name="Rounded Rectangle 10"/>
          <p:cNvSpPr/>
          <p:nvPr/>
        </p:nvSpPr>
        <p:spPr>
          <a:xfrm>
            <a:off x="6155283" y="3525012"/>
            <a:ext cx="2629585" cy="1965960"/>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301587" y="3680460"/>
            <a:ext cx="2336977" cy="1691640"/>
          </a:xfrm>
          <a:prstGeom prst="rect">
            <a:avLst/>
          </a:prstGeom>
          <a:noFill/>
        </p:spPr>
        <p:txBody>
          <a:bodyPr wrap="square" anchor="t" lIns="0" rIns="0" tIns="0" bIns="0">
            <a:spAutoFit/>
          </a:bodyPr>
          <a:lstStyle/>
          <a:p>
            <a:pPr>
              <a:spcBef>
                <a:spcPts val="0"/>
              </a:spcBef>
              <a:spcAft>
                <a:spcPts val="800"/>
              </a:spcAft>
            </a:pPr>
            <a:r>
              <a:rPr sz="850" b="1" i="0" spc="120">
                <a:solidFill>
                  <a:srgbClr val="3EDCC2"/>
                </a:solidFill>
                <a:latin typeface="Consolas"/>
              </a:rPr>
              <a:t>BEAT 03 · 120S</a:t>
            </a:r>
          </a:p>
          <a:p>
            <a:pPr>
              <a:spcBef>
                <a:spcPts val="0"/>
              </a:spcBef>
              <a:spcAft>
                <a:spcPts val="500"/>
              </a:spcAft>
            </a:pPr>
            <a:r>
              <a:rPr sz="1350" b="1" i="0">
                <a:solidFill>
                  <a:srgbClr val="E9F2F4"/>
                </a:solidFill>
                <a:latin typeface="Segoe UI"/>
              </a:rPr>
              <a:t>Correct</a:t>
            </a:r>
          </a:p>
          <a:p>
            <a:pPr>
              <a:lnSpc>
                <a:spcPct val="140000"/>
              </a:lnSpc>
              <a:spcBef>
                <a:spcPts val="0"/>
              </a:spcBef>
              <a:spcAft>
                <a:spcPts val="0"/>
              </a:spcAft>
            </a:pPr>
            <a:r>
              <a:rPr sz="1000" b="0" i="0">
                <a:solidFill>
                  <a:srgbClr val="A8C0C8"/>
                </a:solidFill>
                <a:latin typeface="Segoe UI"/>
              </a:rPr>
              <a:t>They pick a BOQ line. Trace it to the drawing layer it was measured from. Then disagree with it — and watch the downstream go stale.</a:t>
            </a:r>
          </a:p>
        </p:txBody>
      </p:sp>
      <p:sp>
        <p:nvSpPr>
          <p:cNvPr id="13" name="Rounded Rectangle 12"/>
          <p:cNvSpPr/>
          <p:nvPr/>
        </p:nvSpPr>
        <p:spPr>
          <a:xfrm>
            <a:off x="8903741" y="3525012"/>
            <a:ext cx="2629585" cy="1965960"/>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050045" y="3680460"/>
            <a:ext cx="2336977" cy="1691640"/>
          </a:xfrm>
          <a:prstGeom prst="rect">
            <a:avLst/>
          </a:prstGeom>
          <a:noFill/>
        </p:spPr>
        <p:txBody>
          <a:bodyPr wrap="square" anchor="t" lIns="0" rIns="0" tIns="0" bIns="0">
            <a:spAutoFit/>
          </a:bodyPr>
          <a:lstStyle/>
          <a:p>
            <a:pPr>
              <a:spcBef>
                <a:spcPts val="0"/>
              </a:spcBef>
              <a:spcAft>
                <a:spcPts val="800"/>
              </a:spcAft>
            </a:pPr>
            <a:r>
              <a:rPr sz="850" b="1" i="0" spc="120">
                <a:solidFill>
                  <a:srgbClr val="3EDCC2"/>
                </a:solidFill>
                <a:latin typeface="Consolas"/>
              </a:rPr>
              <a:t>BEAT 04 · 60S</a:t>
            </a:r>
          </a:p>
          <a:p>
            <a:pPr>
              <a:spcBef>
                <a:spcPts val="0"/>
              </a:spcBef>
              <a:spcAft>
                <a:spcPts val="500"/>
              </a:spcAft>
            </a:pPr>
            <a:r>
              <a:rPr sz="1350" b="1" i="0">
                <a:solidFill>
                  <a:srgbClr val="E9F2F4"/>
                </a:solidFill>
                <a:latin typeface="Segoe UI"/>
              </a:rPr>
              <a:t>Verify</a:t>
            </a:r>
          </a:p>
          <a:p>
            <a:pPr>
              <a:lnSpc>
                <a:spcPct val="140000"/>
              </a:lnSpc>
              <a:spcBef>
                <a:spcPts val="0"/>
              </a:spcBef>
              <a:spcAft>
                <a:spcPts val="0"/>
              </a:spcAft>
            </a:pPr>
            <a:r>
              <a:rPr sz="1000" b="0" i="0">
                <a:solidFill>
                  <a:srgbClr val="A8C0C8"/>
                </a:solidFill>
                <a:latin typeface="Segoe UI"/>
              </a:rPr>
              <a:t>Trace view, then Verify audit chain — live, in front of them. Then switch the workspace to Arabic and leave it for a beat.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WHERE THE BUILD ACTUALLY IS  </a:t>
            </a:r>
            <a:r>
              <a:rPr sz="900" b="1" i="0" spc="140">
                <a:solidFill>
                  <a:srgbClr val="3EDCC2"/>
                </a:solidFill>
                <a:latin typeface="Consolas"/>
              </a:rPr>
              <a:t>12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32788"/>
            <a:ext cx="1097280" cy="256032"/>
          </a:xfrm>
          <a:prstGeom prst="rect">
            <a:avLst/>
          </a:prstGeom>
          <a:noFill/>
        </p:spPr>
        <p:txBody>
          <a:bodyPr wrap="square" anchor="t" lIns="0" rIns="0" tIns="0" bIns="0">
            <a:spAutoFit/>
          </a:bodyPr>
          <a:lstStyle/>
          <a:p>
            <a:pPr algn="r"/>
            <a:r>
              <a:rPr sz="1050" b="0" i="0">
                <a:solidFill>
                  <a:srgbClr val="A8C0C8"/>
                </a:solidFill>
                <a:latin typeface="Segoe UI"/>
              </a:rPr>
              <a:t>DocLogix</a:t>
            </a:r>
          </a:p>
        </p:txBody>
      </p:sp>
      <p:sp>
        <p:nvSpPr>
          <p:cNvPr id="6" name="Rectangle 5"/>
          <p:cNvSpPr/>
          <p:nvPr/>
        </p:nvSpPr>
        <p:spPr>
          <a:xfrm>
            <a:off x="1847088" y="1769364"/>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847088" y="1769364"/>
            <a:ext cx="3796451"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025896" y="1732788"/>
            <a:ext cx="502920" cy="256032"/>
          </a:xfrm>
          <a:prstGeom prst="rect">
            <a:avLst/>
          </a:prstGeom>
          <a:noFill/>
        </p:spPr>
        <p:txBody>
          <a:bodyPr wrap="square" anchor="t" lIns="0" rIns="0" tIns="0" bIns="0">
            <a:spAutoFit/>
          </a:bodyPr>
          <a:lstStyle/>
          <a:p>
            <a:pPr algn="r"/>
            <a:r>
              <a:rPr sz="1050" b="0" i="0">
                <a:solidFill>
                  <a:srgbClr val="A8C0C8"/>
                </a:solidFill>
                <a:latin typeface="Consolas"/>
              </a:rPr>
              <a:t>93%</a:t>
            </a:r>
          </a:p>
        </p:txBody>
      </p:sp>
      <p:sp>
        <p:nvSpPr>
          <p:cNvPr id="9" name="TextBox 8"/>
          <p:cNvSpPr txBox="1"/>
          <p:nvPr/>
        </p:nvSpPr>
        <p:spPr>
          <a:xfrm>
            <a:off x="658368" y="2116836"/>
            <a:ext cx="1097280" cy="256032"/>
          </a:xfrm>
          <a:prstGeom prst="rect">
            <a:avLst/>
          </a:prstGeom>
          <a:noFill/>
        </p:spPr>
        <p:txBody>
          <a:bodyPr wrap="square" anchor="t" lIns="0" rIns="0" tIns="0" bIns="0">
            <a:spAutoFit/>
          </a:bodyPr>
          <a:lstStyle/>
          <a:p>
            <a:pPr algn="r"/>
            <a:r>
              <a:rPr sz="1050" b="0" i="0">
                <a:solidFill>
                  <a:srgbClr val="A8C0C8"/>
                </a:solidFill>
                <a:latin typeface="Segoe UI"/>
              </a:rPr>
              <a:t>ProcureLogix</a:t>
            </a:r>
          </a:p>
        </p:txBody>
      </p:sp>
      <p:sp>
        <p:nvSpPr>
          <p:cNvPr id="10" name="Rectangle 9"/>
          <p:cNvSpPr/>
          <p:nvPr/>
        </p:nvSpPr>
        <p:spPr>
          <a:xfrm>
            <a:off x="1847088" y="2153412"/>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847088" y="2153412"/>
            <a:ext cx="3731346"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025896" y="2116836"/>
            <a:ext cx="502920" cy="256032"/>
          </a:xfrm>
          <a:prstGeom prst="rect">
            <a:avLst/>
          </a:prstGeom>
          <a:noFill/>
        </p:spPr>
        <p:txBody>
          <a:bodyPr wrap="square" anchor="t" lIns="0" rIns="0" tIns="0" bIns="0">
            <a:spAutoFit/>
          </a:bodyPr>
          <a:lstStyle/>
          <a:p>
            <a:pPr algn="r"/>
            <a:r>
              <a:rPr sz="1050" b="0" i="0">
                <a:solidFill>
                  <a:srgbClr val="A8C0C8"/>
                </a:solidFill>
                <a:latin typeface="Consolas"/>
              </a:rPr>
              <a:t>92%</a:t>
            </a:r>
          </a:p>
        </p:txBody>
      </p:sp>
      <p:sp>
        <p:nvSpPr>
          <p:cNvPr id="13" name="TextBox 12"/>
          <p:cNvSpPr txBox="1"/>
          <p:nvPr/>
        </p:nvSpPr>
        <p:spPr>
          <a:xfrm>
            <a:off x="658368" y="2500884"/>
            <a:ext cx="1097280" cy="256032"/>
          </a:xfrm>
          <a:prstGeom prst="rect">
            <a:avLst/>
          </a:prstGeom>
          <a:noFill/>
        </p:spPr>
        <p:txBody>
          <a:bodyPr wrap="square" anchor="t" lIns="0" rIns="0" tIns="0" bIns="0">
            <a:spAutoFit/>
          </a:bodyPr>
          <a:lstStyle/>
          <a:p>
            <a:pPr algn="r"/>
            <a:r>
              <a:rPr sz="1050" b="0" i="0">
                <a:solidFill>
                  <a:srgbClr val="A8C0C8"/>
                </a:solidFill>
                <a:latin typeface="Segoe UI"/>
              </a:rPr>
              <a:t>CostLogix</a:t>
            </a:r>
          </a:p>
        </p:txBody>
      </p:sp>
      <p:sp>
        <p:nvSpPr>
          <p:cNvPr id="14" name="Rectangle 13"/>
          <p:cNvSpPr/>
          <p:nvPr/>
        </p:nvSpPr>
        <p:spPr>
          <a:xfrm>
            <a:off x="1847088" y="2537460"/>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47088" y="2537460"/>
            <a:ext cx="3560445"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025896" y="2500884"/>
            <a:ext cx="502920" cy="256032"/>
          </a:xfrm>
          <a:prstGeom prst="rect">
            <a:avLst/>
          </a:prstGeom>
          <a:noFill/>
        </p:spPr>
        <p:txBody>
          <a:bodyPr wrap="square" anchor="t" lIns="0" rIns="0" tIns="0" bIns="0">
            <a:spAutoFit/>
          </a:bodyPr>
          <a:lstStyle/>
          <a:p>
            <a:pPr algn="r"/>
            <a:r>
              <a:rPr sz="1050" b="0" i="0">
                <a:solidFill>
                  <a:srgbClr val="A8C0C8"/>
                </a:solidFill>
                <a:latin typeface="Consolas"/>
              </a:rPr>
              <a:t>88%</a:t>
            </a:r>
          </a:p>
        </p:txBody>
      </p:sp>
      <p:sp>
        <p:nvSpPr>
          <p:cNvPr id="17" name="TextBox 16"/>
          <p:cNvSpPr txBox="1"/>
          <p:nvPr/>
        </p:nvSpPr>
        <p:spPr>
          <a:xfrm>
            <a:off x="658368" y="2884932"/>
            <a:ext cx="1097280" cy="256032"/>
          </a:xfrm>
          <a:prstGeom prst="rect">
            <a:avLst/>
          </a:prstGeom>
          <a:noFill/>
        </p:spPr>
        <p:txBody>
          <a:bodyPr wrap="square" anchor="t" lIns="0" rIns="0" tIns="0" bIns="0">
            <a:spAutoFit/>
          </a:bodyPr>
          <a:lstStyle/>
          <a:p>
            <a:pPr algn="r"/>
            <a:r>
              <a:rPr sz="1050" b="0" i="0">
                <a:solidFill>
                  <a:srgbClr val="A8C0C8"/>
                </a:solidFill>
                <a:latin typeface="Segoe UI"/>
              </a:rPr>
              <a:t>NarrativeLogix</a:t>
            </a:r>
          </a:p>
        </p:txBody>
      </p:sp>
      <p:sp>
        <p:nvSpPr>
          <p:cNvPr id="18" name="Rectangle 17"/>
          <p:cNvSpPr/>
          <p:nvPr/>
        </p:nvSpPr>
        <p:spPr>
          <a:xfrm>
            <a:off x="1847088" y="2921508"/>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847088" y="2921508"/>
            <a:ext cx="3389543"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025896" y="2884932"/>
            <a:ext cx="502920" cy="256032"/>
          </a:xfrm>
          <a:prstGeom prst="rect">
            <a:avLst/>
          </a:prstGeom>
          <a:noFill/>
        </p:spPr>
        <p:txBody>
          <a:bodyPr wrap="square" anchor="t" lIns="0" rIns="0" tIns="0" bIns="0">
            <a:spAutoFit/>
          </a:bodyPr>
          <a:lstStyle/>
          <a:p>
            <a:pPr algn="r"/>
            <a:r>
              <a:rPr sz="1050" b="0" i="0">
                <a:solidFill>
                  <a:srgbClr val="A8C0C8"/>
                </a:solidFill>
                <a:latin typeface="Consolas"/>
              </a:rPr>
              <a:t>83%</a:t>
            </a:r>
          </a:p>
        </p:txBody>
      </p:sp>
      <p:sp>
        <p:nvSpPr>
          <p:cNvPr id="21" name="TextBox 20"/>
          <p:cNvSpPr txBox="1"/>
          <p:nvPr/>
        </p:nvSpPr>
        <p:spPr>
          <a:xfrm>
            <a:off x="658368" y="3268980"/>
            <a:ext cx="1097280" cy="256032"/>
          </a:xfrm>
          <a:prstGeom prst="rect">
            <a:avLst/>
          </a:prstGeom>
          <a:noFill/>
        </p:spPr>
        <p:txBody>
          <a:bodyPr wrap="square" anchor="t" lIns="0" rIns="0" tIns="0" bIns="0">
            <a:spAutoFit/>
          </a:bodyPr>
          <a:lstStyle/>
          <a:p>
            <a:pPr algn="r"/>
            <a:r>
              <a:rPr sz="1050" b="0" i="0">
                <a:solidFill>
                  <a:srgbClr val="A8C0C8"/>
                </a:solidFill>
                <a:latin typeface="Segoe UI"/>
              </a:rPr>
              <a:t>QuantLogix</a:t>
            </a:r>
          </a:p>
        </p:txBody>
      </p:sp>
      <p:sp>
        <p:nvSpPr>
          <p:cNvPr id="22" name="Rectangle 21"/>
          <p:cNvSpPr/>
          <p:nvPr/>
        </p:nvSpPr>
        <p:spPr>
          <a:xfrm>
            <a:off x="1847088" y="3305556"/>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847088" y="3305556"/>
            <a:ext cx="3328507"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025896" y="3268980"/>
            <a:ext cx="502920" cy="256032"/>
          </a:xfrm>
          <a:prstGeom prst="rect">
            <a:avLst/>
          </a:prstGeom>
          <a:noFill/>
        </p:spPr>
        <p:txBody>
          <a:bodyPr wrap="square" anchor="t" lIns="0" rIns="0" tIns="0" bIns="0">
            <a:spAutoFit/>
          </a:bodyPr>
          <a:lstStyle/>
          <a:p>
            <a:pPr algn="r"/>
            <a:r>
              <a:rPr sz="1050" b="0" i="0">
                <a:solidFill>
                  <a:srgbClr val="A8C0C8"/>
                </a:solidFill>
                <a:latin typeface="Consolas"/>
              </a:rPr>
              <a:t>82%</a:t>
            </a:r>
          </a:p>
        </p:txBody>
      </p:sp>
      <p:sp>
        <p:nvSpPr>
          <p:cNvPr id="25" name="TextBox 24"/>
          <p:cNvSpPr txBox="1"/>
          <p:nvPr/>
        </p:nvSpPr>
        <p:spPr>
          <a:xfrm>
            <a:off x="658368" y="3653028"/>
            <a:ext cx="1097280" cy="256032"/>
          </a:xfrm>
          <a:prstGeom prst="rect">
            <a:avLst/>
          </a:prstGeom>
          <a:noFill/>
        </p:spPr>
        <p:txBody>
          <a:bodyPr wrap="square" anchor="t" lIns="0" rIns="0" tIns="0" bIns="0">
            <a:spAutoFit/>
          </a:bodyPr>
          <a:lstStyle/>
          <a:p>
            <a:pPr algn="r"/>
            <a:r>
              <a:rPr sz="1050" b="0" i="0">
                <a:solidFill>
                  <a:srgbClr val="A8C0C8"/>
                </a:solidFill>
                <a:latin typeface="Segoe UI"/>
              </a:rPr>
              <a:t>TenderLogix</a:t>
            </a:r>
          </a:p>
        </p:txBody>
      </p:sp>
      <p:sp>
        <p:nvSpPr>
          <p:cNvPr id="26" name="Rectangle 25"/>
          <p:cNvSpPr/>
          <p:nvPr/>
        </p:nvSpPr>
        <p:spPr>
          <a:xfrm>
            <a:off x="1847088" y="3689604"/>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847088" y="3689604"/>
            <a:ext cx="3279678"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025896" y="3653028"/>
            <a:ext cx="502920" cy="256032"/>
          </a:xfrm>
          <a:prstGeom prst="rect">
            <a:avLst/>
          </a:prstGeom>
          <a:noFill/>
        </p:spPr>
        <p:txBody>
          <a:bodyPr wrap="square" anchor="t" lIns="0" rIns="0" tIns="0" bIns="0">
            <a:spAutoFit/>
          </a:bodyPr>
          <a:lstStyle/>
          <a:p>
            <a:pPr algn="r"/>
            <a:r>
              <a:rPr sz="1050" b="0" i="0">
                <a:solidFill>
                  <a:srgbClr val="A8C0C8"/>
                </a:solidFill>
                <a:latin typeface="Consolas"/>
              </a:rPr>
              <a:t>81%</a:t>
            </a:r>
          </a:p>
        </p:txBody>
      </p:sp>
      <p:sp>
        <p:nvSpPr>
          <p:cNvPr id="29" name="TextBox 28"/>
          <p:cNvSpPr txBox="1"/>
          <p:nvPr/>
        </p:nvSpPr>
        <p:spPr>
          <a:xfrm>
            <a:off x="658368" y="4037076"/>
            <a:ext cx="1097280" cy="256032"/>
          </a:xfrm>
          <a:prstGeom prst="rect">
            <a:avLst/>
          </a:prstGeom>
          <a:noFill/>
        </p:spPr>
        <p:txBody>
          <a:bodyPr wrap="square" anchor="t" lIns="0" rIns="0" tIns="0" bIns="0">
            <a:spAutoFit/>
          </a:bodyPr>
          <a:lstStyle/>
          <a:p>
            <a:pPr algn="r"/>
            <a:r>
              <a:rPr sz="1050" b="0" i="0">
                <a:solidFill>
                  <a:srgbClr val="A8C0C8"/>
                </a:solidFill>
                <a:latin typeface="Segoe UI"/>
              </a:rPr>
              <a:t>ScheduleLogix</a:t>
            </a:r>
          </a:p>
        </p:txBody>
      </p:sp>
      <p:sp>
        <p:nvSpPr>
          <p:cNvPr id="30" name="Rectangle 29"/>
          <p:cNvSpPr/>
          <p:nvPr/>
        </p:nvSpPr>
        <p:spPr>
          <a:xfrm>
            <a:off x="1847088" y="4073652"/>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1847088" y="4073652"/>
            <a:ext cx="3120984" cy="128016"/>
          </a:xfrm>
          <a:prstGeom prst="rect">
            <a:avLst/>
          </a:prstGeom>
          <a:solidFill>
            <a:srgbClr val="E0A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025896" y="4037076"/>
            <a:ext cx="502920" cy="256032"/>
          </a:xfrm>
          <a:prstGeom prst="rect">
            <a:avLst/>
          </a:prstGeom>
          <a:noFill/>
        </p:spPr>
        <p:txBody>
          <a:bodyPr wrap="square" anchor="t" lIns="0" rIns="0" tIns="0" bIns="0">
            <a:spAutoFit/>
          </a:bodyPr>
          <a:lstStyle/>
          <a:p>
            <a:pPr algn="r"/>
            <a:r>
              <a:rPr sz="1050" b="0" i="0">
                <a:solidFill>
                  <a:srgbClr val="A8C0C8"/>
                </a:solidFill>
                <a:latin typeface="Consolas"/>
              </a:rPr>
              <a:t>77%</a:t>
            </a:r>
          </a:p>
        </p:txBody>
      </p:sp>
      <p:sp>
        <p:nvSpPr>
          <p:cNvPr id="33" name="TextBox 32"/>
          <p:cNvSpPr txBox="1"/>
          <p:nvPr/>
        </p:nvSpPr>
        <p:spPr>
          <a:xfrm>
            <a:off x="658368" y="4421124"/>
            <a:ext cx="1097280" cy="256032"/>
          </a:xfrm>
          <a:prstGeom prst="rect">
            <a:avLst/>
          </a:prstGeom>
          <a:noFill/>
        </p:spPr>
        <p:txBody>
          <a:bodyPr wrap="square" anchor="t" lIns="0" rIns="0" tIns="0" bIns="0">
            <a:spAutoFit/>
          </a:bodyPr>
          <a:lstStyle/>
          <a:p>
            <a:pPr algn="r"/>
            <a:r>
              <a:rPr sz="1050" b="0" i="0">
                <a:solidFill>
                  <a:srgbClr val="A8C0C8"/>
                </a:solidFill>
                <a:latin typeface="Segoe UI"/>
              </a:rPr>
              <a:t>Platform / Core</a:t>
            </a:r>
          </a:p>
        </p:txBody>
      </p:sp>
      <p:sp>
        <p:nvSpPr>
          <p:cNvPr id="34" name="Rectangle 33"/>
          <p:cNvSpPr/>
          <p:nvPr/>
        </p:nvSpPr>
        <p:spPr>
          <a:xfrm>
            <a:off x="1847088" y="4457699"/>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1847088" y="4457699"/>
            <a:ext cx="2950083" cy="128016"/>
          </a:xfrm>
          <a:prstGeom prst="rect">
            <a:avLst/>
          </a:prstGeom>
          <a:solidFill>
            <a:srgbClr val="E0A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025896" y="4421124"/>
            <a:ext cx="502920" cy="256032"/>
          </a:xfrm>
          <a:prstGeom prst="rect">
            <a:avLst/>
          </a:prstGeom>
          <a:noFill/>
        </p:spPr>
        <p:txBody>
          <a:bodyPr wrap="square" anchor="t" lIns="0" rIns="0" tIns="0" bIns="0">
            <a:spAutoFit/>
          </a:bodyPr>
          <a:lstStyle/>
          <a:p>
            <a:pPr algn="r"/>
            <a:r>
              <a:rPr sz="1050" b="0" i="0">
                <a:solidFill>
                  <a:srgbClr val="A8C0C8"/>
                </a:solidFill>
                <a:latin typeface="Consolas"/>
              </a:rPr>
              <a:t>72%</a:t>
            </a:r>
          </a:p>
        </p:txBody>
      </p:sp>
      <p:sp>
        <p:nvSpPr>
          <p:cNvPr id="37" name="TextBox 36"/>
          <p:cNvSpPr txBox="1"/>
          <p:nvPr/>
        </p:nvSpPr>
        <p:spPr>
          <a:xfrm>
            <a:off x="658368" y="4805172"/>
            <a:ext cx="1097280" cy="256032"/>
          </a:xfrm>
          <a:prstGeom prst="rect">
            <a:avLst/>
          </a:prstGeom>
          <a:noFill/>
        </p:spPr>
        <p:txBody>
          <a:bodyPr wrap="square" anchor="t" lIns="0" rIns="0" tIns="0" bIns="0">
            <a:spAutoFit/>
          </a:bodyPr>
          <a:lstStyle/>
          <a:p>
            <a:pPr algn="r"/>
            <a:r>
              <a:rPr sz="1050" b="0" i="0">
                <a:solidFill>
                  <a:srgbClr val="A8C0C8"/>
                </a:solidFill>
                <a:latin typeface="Segoe UI"/>
              </a:rPr>
              <a:t>DrawLogix</a:t>
            </a:r>
          </a:p>
        </p:txBody>
      </p:sp>
      <p:sp>
        <p:nvSpPr>
          <p:cNvPr id="38" name="Rectangle 37"/>
          <p:cNvSpPr/>
          <p:nvPr/>
        </p:nvSpPr>
        <p:spPr>
          <a:xfrm>
            <a:off x="1847088" y="4841748"/>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1847088" y="4841748"/>
            <a:ext cx="2925668" cy="128016"/>
          </a:xfrm>
          <a:prstGeom prst="rect">
            <a:avLst/>
          </a:prstGeom>
          <a:solidFill>
            <a:srgbClr val="E0A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025896" y="4805172"/>
            <a:ext cx="502920" cy="256032"/>
          </a:xfrm>
          <a:prstGeom prst="rect">
            <a:avLst/>
          </a:prstGeom>
          <a:noFill/>
        </p:spPr>
        <p:txBody>
          <a:bodyPr wrap="square" anchor="t" lIns="0" rIns="0" tIns="0" bIns="0">
            <a:spAutoFit/>
          </a:bodyPr>
          <a:lstStyle/>
          <a:p>
            <a:pPr algn="r"/>
            <a:r>
              <a:rPr sz="1050" b="0" i="0">
                <a:solidFill>
                  <a:srgbClr val="A8C0C8"/>
                </a:solidFill>
                <a:latin typeface="Consolas"/>
              </a:rPr>
              <a:t>72%</a:t>
            </a:r>
          </a:p>
        </p:txBody>
      </p:sp>
      <p:sp>
        <p:nvSpPr>
          <p:cNvPr id="41" name="Rectangle 40"/>
          <p:cNvSpPr/>
          <p:nvPr/>
        </p:nvSpPr>
        <p:spPr>
          <a:xfrm>
            <a:off x="658368" y="5280660"/>
            <a:ext cx="5870448"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 y="5390387"/>
            <a:ext cx="1097280" cy="274320"/>
          </a:xfrm>
          <a:prstGeom prst="rect">
            <a:avLst/>
          </a:prstGeom>
          <a:noFill/>
        </p:spPr>
        <p:txBody>
          <a:bodyPr wrap="square" anchor="t" lIns="0" rIns="0" tIns="0" bIns="0">
            <a:spAutoFit/>
          </a:bodyPr>
          <a:lstStyle/>
          <a:p>
            <a:pPr algn="r"/>
            <a:r>
              <a:rPr sz="1150" b="1" i="0">
                <a:solidFill>
                  <a:srgbClr val="E9F2F4"/>
                </a:solidFill>
                <a:latin typeface="Segoe UI"/>
              </a:rPr>
              <a:t>All modules</a:t>
            </a:r>
          </a:p>
        </p:txBody>
      </p:sp>
      <p:sp>
        <p:nvSpPr>
          <p:cNvPr id="43" name="Rectangle 42"/>
          <p:cNvSpPr/>
          <p:nvPr/>
        </p:nvSpPr>
        <p:spPr>
          <a:xfrm>
            <a:off x="1847088" y="5426963"/>
            <a:ext cx="4069080" cy="17373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1847088" y="5426963"/>
            <a:ext cx="3222711" cy="17373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025896" y="5390387"/>
            <a:ext cx="502920" cy="274320"/>
          </a:xfrm>
          <a:prstGeom prst="rect">
            <a:avLst/>
          </a:prstGeom>
          <a:noFill/>
        </p:spPr>
        <p:txBody>
          <a:bodyPr wrap="square" anchor="t" lIns="0" rIns="0" tIns="0" bIns="0">
            <a:spAutoFit/>
          </a:bodyPr>
          <a:lstStyle/>
          <a:p>
            <a:pPr algn="r"/>
            <a:r>
              <a:rPr sz="1150" b="1" i="0">
                <a:solidFill>
                  <a:srgbClr val="E9F2F4"/>
                </a:solidFill>
                <a:latin typeface="Consolas"/>
              </a:rPr>
              <a:t>79%</a:t>
            </a:r>
          </a:p>
        </p:txBody>
      </p:sp>
      <p:sp>
        <p:nvSpPr>
          <p:cNvPr id="46" name="TextBox 45"/>
          <p:cNvSpPr txBox="1"/>
          <p:nvPr/>
        </p:nvSpPr>
        <p:spPr>
          <a:xfrm>
            <a:off x="7086600" y="1705356"/>
            <a:ext cx="4443984" cy="1463040"/>
          </a:xfrm>
          <a:prstGeom prst="rect">
            <a:avLst/>
          </a:prstGeom>
          <a:noFill/>
        </p:spPr>
        <p:txBody>
          <a:bodyPr wrap="square" anchor="t" lIns="0" rIns="0" tIns="0" bIns="0">
            <a:spAutoFit/>
          </a:bodyPr>
          <a:lstStyle/>
          <a:p>
            <a:pPr>
              <a:lnSpc>
                <a:spcPct val="112000"/>
              </a:lnSpc>
              <a:spcBef>
                <a:spcPts val="0"/>
              </a:spcBef>
              <a:spcAft>
                <a:spcPts val="0"/>
              </a:spcAft>
            </a:pPr>
            <a:r>
              <a:rPr sz="2400" b="1" i="0">
                <a:solidFill>
                  <a:srgbClr val="E9F2F4"/>
                </a:solidFill>
                <a:latin typeface="Segoe UI"/>
              </a:rPr>
              <a:t>132 features. 97 done, 15 partial, 20 missing.</a:t>
            </a:r>
          </a:p>
        </p:txBody>
      </p:sp>
      <p:sp>
        <p:nvSpPr>
          <p:cNvPr id="47" name="TextBox 46"/>
          <p:cNvSpPr txBox="1"/>
          <p:nvPr/>
        </p:nvSpPr>
        <p:spPr>
          <a:xfrm>
            <a:off x="7086600" y="3058668"/>
            <a:ext cx="4443984" cy="914400"/>
          </a:xfrm>
          <a:prstGeom prst="rect">
            <a:avLst/>
          </a:prstGeom>
          <a:noFill/>
        </p:spPr>
        <p:txBody>
          <a:bodyPr wrap="square" anchor="t" lIns="0" rIns="0" tIns="0" bIns="0">
            <a:spAutoFit/>
          </a:bodyPr>
          <a:lstStyle/>
          <a:p>
            <a:pPr>
              <a:lnSpc>
                <a:spcPct val="145000"/>
              </a:lnSpc>
              <a:spcBef>
                <a:spcPts val="0"/>
              </a:spcBef>
              <a:spcAft>
                <a:spcPts val="0"/>
              </a:spcAft>
            </a:pPr>
            <a:r>
              <a:rPr sz="1100" b="0" i="0">
                <a:solidFill>
                  <a:srgbClr val="7A939E"/>
                </a:solidFill>
                <a:latin typeface="Segoe UI"/>
              </a:rPr>
              <a:t>Measured against the blueprints </a:t>
            </a:r>
            <a:r>
              <a:rPr sz="1100" b="0" i="1">
                <a:solidFill>
                  <a:srgbClr val="A8C0C8"/>
                </a:solidFill>
                <a:latin typeface="Segoe UI"/>
              </a:rPr>
              <a:t>as written</a:t>
            </a:r>
            <a:r>
              <a:rPr sz="1100" b="0" i="0">
                <a:solidFill>
                  <a:srgbClr val="7A939E"/>
                </a:solidFill>
                <a:latin typeface="Segoe UI"/>
              </a:rPr>
              <a:t> — 13,074 lines of specification across ten documents. Not against a roadmap we could move.</a:t>
            </a:r>
          </a:p>
        </p:txBody>
      </p:sp>
      <p:sp>
        <p:nvSpPr>
          <p:cNvPr id="48" name="Rounded Rectangle 47"/>
          <p:cNvSpPr/>
          <p:nvPr/>
        </p:nvSpPr>
        <p:spPr>
          <a:xfrm>
            <a:off x="7086600" y="4219956"/>
            <a:ext cx="4443984" cy="141732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7242048" y="4357116"/>
            <a:ext cx="4133088" cy="114300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HOW IT IS COUNTED</a:t>
            </a:r>
          </a:p>
          <a:p>
            <a:pPr>
              <a:lnSpc>
                <a:spcPct val="138000"/>
              </a:lnSpc>
              <a:spcBef>
                <a:spcPts val="0"/>
              </a:spcBef>
              <a:spcAft>
                <a:spcPts val="0"/>
              </a:spcAft>
            </a:pPr>
            <a:r>
              <a:rPr sz="1100" b="0" i="0">
                <a:solidFill>
                  <a:srgbClr val="A8C0C8"/>
                </a:solidFill>
                <a:latin typeface="Segoe UI"/>
              </a:rPr>
              <a:t>Done means built, tested and deployed. Partial counts as a half. Missing counts as zero. Every row was verified against the codebase and the deployed production database.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EVIDENCE  </a:t>
            </a:r>
            <a:r>
              <a:rPr sz="900" b="1" i="0" spc="140">
                <a:solidFill>
                  <a:srgbClr val="3EDCC2"/>
                </a:solidFill>
                <a:latin typeface="Consolas"/>
              </a:rPr>
              <a:t>13  </a:t>
            </a:r>
            <a:r>
              <a:rPr sz="900" b="0" i="0" spc="140">
                <a:solidFill>
                  <a:srgbClr val="7A939E"/>
                </a:solidFill>
                <a:latin typeface="Consolas"/>
              </a:rPr>
              <a:t>COUNTED, NOT ASSERTED</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915668"/>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04672" y="2080260"/>
            <a:ext cx="1816547" cy="868680"/>
          </a:xfrm>
          <a:prstGeom prst="rect">
            <a:avLst/>
          </a:prstGeom>
          <a:noFill/>
        </p:spPr>
        <p:txBody>
          <a:bodyPr wrap="square" anchor="t" lIns="0" rIns="0" tIns="0" bIns="0">
            <a:spAutoFit/>
          </a:bodyPr>
          <a:lstStyle/>
          <a:p>
            <a:pPr>
              <a:spcBef>
                <a:spcPts val="0"/>
              </a:spcBef>
              <a:spcAft>
                <a:spcPts val="600"/>
              </a:spcAft>
            </a:pPr>
            <a:r>
              <a:rPr sz="2600" b="0" i="0">
                <a:solidFill>
                  <a:srgbClr val="E9F2F4"/>
                </a:solidFill>
                <a:latin typeface="Consolas"/>
              </a:rPr>
              <a:t>84</a:t>
            </a:r>
          </a:p>
          <a:p>
            <a:pPr>
              <a:lnSpc>
                <a:spcPct val="132000"/>
              </a:lnSpc>
              <a:spcBef>
                <a:spcPts val="0"/>
              </a:spcBef>
              <a:spcAft>
                <a:spcPts val="0"/>
              </a:spcAft>
            </a:pPr>
            <a:r>
              <a:rPr sz="1000" b="0" i="0">
                <a:solidFill>
                  <a:srgbClr val="7A939E"/>
                </a:solidFill>
                <a:latin typeface="Segoe UI"/>
              </a:rPr>
              <a:t>database tables, deployed</a:t>
            </a:r>
          </a:p>
        </p:txBody>
      </p:sp>
      <p:sp>
        <p:nvSpPr>
          <p:cNvPr id="7" name="Rounded Rectangle 6"/>
          <p:cNvSpPr/>
          <p:nvPr/>
        </p:nvSpPr>
        <p:spPr>
          <a:xfrm>
            <a:off x="2849819" y="1915668"/>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2996123" y="2080260"/>
            <a:ext cx="1816547" cy="868680"/>
          </a:xfrm>
          <a:prstGeom prst="rect">
            <a:avLst/>
          </a:prstGeom>
          <a:noFill/>
        </p:spPr>
        <p:txBody>
          <a:bodyPr wrap="square" anchor="t" lIns="0" rIns="0" tIns="0" bIns="0">
            <a:spAutoFit/>
          </a:bodyPr>
          <a:lstStyle/>
          <a:p>
            <a:pPr>
              <a:spcBef>
                <a:spcPts val="0"/>
              </a:spcBef>
              <a:spcAft>
                <a:spcPts val="600"/>
              </a:spcAft>
            </a:pPr>
            <a:r>
              <a:rPr sz="2600" b="0" i="0">
                <a:solidFill>
                  <a:srgbClr val="E9F2F4"/>
                </a:solidFill>
                <a:latin typeface="Consolas"/>
              </a:rPr>
              <a:t>90</a:t>
            </a:r>
          </a:p>
          <a:p>
            <a:pPr>
              <a:lnSpc>
                <a:spcPct val="132000"/>
              </a:lnSpc>
              <a:spcBef>
                <a:spcPts val="0"/>
              </a:spcBef>
              <a:spcAft>
                <a:spcPts val="0"/>
              </a:spcAft>
            </a:pPr>
            <a:r>
              <a:rPr sz="1000" b="0" i="0">
                <a:solidFill>
                  <a:srgbClr val="7A939E"/>
                </a:solidFill>
                <a:latin typeface="Segoe UI"/>
              </a:rPr>
              <a:t>API routes</a:t>
            </a:r>
          </a:p>
        </p:txBody>
      </p:sp>
      <p:sp>
        <p:nvSpPr>
          <p:cNvPr id="9" name="Rounded Rectangle 8"/>
          <p:cNvSpPr/>
          <p:nvPr/>
        </p:nvSpPr>
        <p:spPr>
          <a:xfrm>
            <a:off x="5041270" y="1915668"/>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187574" y="2080260"/>
            <a:ext cx="1816547" cy="868680"/>
          </a:xfrm>
          <a:prstGeom prst="rect">
            <a:avLst/>
          </a:prstGeom>
          <a:noFill/>
        </p:spPr>
        <p:txBody>
          <a:bodyPr wrap="square" anchor="t" lIns="0" rIns="0" tIns="0" bIns="0">
            <a:spAutoFit/>
          </a:bodyPr>
          <a:lstStyle/>
          <a:p>
            <a:pPr>
              <a:spcBef>
                <a:spcPts val="0"/>
              </a:spcBef>
              <a:spcAft>
                <a:spcPts val="600"/>
              </a:spcAft>
            </a:pPr>
            <a:r>
              <a:rPr sz="2600" b="0" i="0">
                <a:solidFill>
                  <a:srgbClr val="E9F2F4"/>
                </a:solidFill>
                <a:latin typeface="Consolas"/>
              </a:rPr>
              <a:t>982</a:t>
            </a:r>
          </a:p>
          <a:p>
            <a:pPr>
              <a:lnSpc>
                <a:spcPct val="132000"/>
              </a:lnSpc>
              <a:spcBef>
                <a:spcPts val="0"/>
              </a:spcBef>
              <a:spcAft>
                <a:spcPts val="0"/>
              </a:spcAft>
            </a:pPr>
            <a:r>
              <a:rPr sz="1000" b="0" i="0">
                <a:solidFill>
                  <a:srgbClr val="7A939E"/>
                </a:solidFill>
                <a:latin typeface="Segoe UI"/>
              </a:rPr>
              <a:t>tests passing, 46 files</a:t>
            </a:r>
          </a:p>
        </p:txBody>
      </p:sp>
      <p:sp>
        <p:nvSpPr>
          <p:cNvPr id="11" name="Rounded Rectangle 10"/>
          <p:cNvSpPr/>
          <p:nvPr/>
        </p:nvSpPr>
        <p:spPr>
          <a:xfrm>
            <a:off x="7232721" y="1915668"/>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379025" y="2080260"/>
            <a:ext cx="1816547" cy="868680"/>
          </a:xfrm>
          <a:prstGeom prst="rect">
            <a:avLst/>
          </a:prstGeom>
          <a:noFill/>
        </p:spPr>
        <p:txBody>
          <a:bodyPr wrap="square" anchor="t" lIns="0" rIns="0" tIns="0" bIns="0">
            <a:spAutoFit/>
          </a:bodyPr>
          <a:lstStyle/>
          <a:p>
            <a:pPr>
              <a:spcBef>
                <a:spcPts val="0"/>
              </a:spcBef>
              <a:spcAft>
                <a:spcPts val="600"/>
              </a:spcAft>
            </a:pPr>
            <a:r>
              <a:rPr sz="2600" b="0" i="0">
                <a:solidFill>
                  <a:srgbClr val="E9F2F4"/>
                </a:solidFill>
                <a:latin typeface="Consolas"/>
              </a:rPr>
              <a:t>34</a:t>
            </a:r>
          </a:p>
          <a:p>
            <a:pPr>
              <a:lnSpc>
                <a:spcPct val="132000"/>
              </a:lnSpc>
              <a:spcBef>
                <a:spcPts val="0"/>
              </a:spcBef>
              <a:spcAft>
                <a:spcPts val="0"/>
              </a:spcAft>
            </a:pPr>
            <a:r>
              <a:rPr sz="1000" b="0" i="0">
                <a:solidFill>
                  <a:srgbClr val="7A939E"/>
                </a:solidFill>
                <a:latin typeface="Segoe UI"/>
              </a:rPr>
              <a:t>deterministic engines</a:t>
            </a:r>
          </a:p>
        </p:txBody>
      </p:sp>
      <p:sp>
        <p:nvSpPr>
          <p:cNvPr id="13" name="Rounded Rectangle 12"/>
          <p:cNvSpPr/>
          <p:nvPr/>
        </p:nvSpPr>
        <p:spPr>
          <a:xfrm>
            <a:off x="9424172" y="1915668"/>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570476" y="2080260"/>
            <a:ext cx="1816547" cy="868680"/>
          </a:xfrm>
          <a:prstGeom prst="rect">
            <a:avLst/>
          </a:prstGeom>
          <a:noFill/>
        </p:spPr>
        <p:txBody>
          <a:bodyPr wrap="square" anchor="t" lIns="0" rIns="0" tIns="0" bIns="0">
            <a:spAutoFit/>
          </a:bodyPr>
          <a:lstStyle/>
          <a:p>
            <a:pPr>
              <a:spcBef>
                <a:spcPts val="0"/>
              </a:spcBef>
              <a:spcAft>
                <a:spcPts val="600"/>
              </a:spcAft>
            </a:pPr>
            <a:r>
              <a:rPr sz="2600" b="0" i="0">
                <a:solidFill>
                  <a:srgbClr val="E9F2F4"/>
                </a:solidFill>
                <a:latin typeface="Consolas"/>
              </a:rPr>
              <a:t>24</a:t>
            </a:r>
          </a:p>
          <a:p>
            <a:pPr>
              <a:lnSpc>
                <a:spcPct val="132000"/>
              </a:lnSpc>
              <a:spcBef>
                <a:spcPts val="0"/>
              </a:spcBef>
              <a:spcAft>
                <a:spcPts val="0"/>
              </a:spcAft>
            </a:pPr>
            <a:r>
              <a:rPr sz="1000" b="0" i="0">
                <a:solidFill>
                  <a:srgbClr val="7A939E"/>
                </a:solidFill>
                <a:latin typeface="Segoe UI"/>
              </a:rPr>
              <a:t>schema migrations</a:t>
            </a:r>
          </a:p>
        </p:txBody>
      </p:sp>
      <p:sp>
        <p:nvSpPr>
          <p:cNvPr id="15" name="Rounded Rectangle 14"/>
          <p:cNvSpPr/>
          <p:nvPr/>
        </p:nvSpPr>
        <p:spPr>
          <a:xfrm>
            <a:off x="658368" y="3214116"/>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04672" y="3378708"/>
            <a:ext cx="1816547" cy="868680"/>
          </a:xfrm>
          <a:prstGeom prst="rect">
            <a:avLst/>
          </a:prstGeom>
          <a:noFill/>
        </p:spPr>
        <p:txBody>
          <a:bodyPr wrap="square" anchor="t" lIns="0" rIns="0" tIns="0" bIns="0">
            <a:spAutoFit/>
          </a:bodyPr>
          <a:lstStyle/>
          <a:p>
            <a:pPr>
              <a:spcBef>
                <a:spcPts val="0"/>
              </a:spcBef>
              <a:spcAft>
                <a:spcPts val="600"/>
              </a:spcAft>
            </a:pPr>
            <a:r>
              <a:rPr sz="2600" b="0" i="0">
                <a:solidFill>
                  <a:srgbClr val="E9F2F4"/>
                </a:solidFill>
                <a:latin typeface="Consolas"/>
              </a:rPr>
              <a:t>20</a:t>
            </a:r>
          </a:p>
          <a:p>
            <a:pPr>
              <a:lnSpc>
                <a:spcPct val="132000"/>
              </a:lnSpc>
              <a:spcBef>
                <a:spcPts val="0"/>
              </a:spcBef>
              <a:spcAft>
                <a:spcPts val="0"/>
              </a:spcAft>
            </a:pPr>
            <a:r>
              <a:rPr sz="1000" b="0" i="0">
                <a:solidFill>
                  <a:srgbClr val="7A939E"/>
                </a:solidFill>
                <a:latin typeface="Segoe UI"/>
              </a:rPr>
              <a:t>AI agents, typed I/O</a:t>
            </a:r>
          </a:p>
        </p:txBody>
      </p:sp>
      <p:sp>
        <p:nvSpPr>
          <p:cNvPr id="17" name="Rounded Rectangle 16"/>
          <p:cNvSpPr/>
          <p:nvPr/>
        </p:nvSpPr>
        <p:spPr>
          <a:xfrm>
            <a:off x="2849819" y="3214116"/>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996123" y="3378708"/>
            <a:ext cx="1816547" cy="868680"/>
          </a:xfrm>
          <a:prstGeom prst="rect">
            <a:avLst/>
          </a:prstGeom>
          <a:noFill/>
        </p:spPr>
        <p:txBody>
          <a:bodyPr wrap="square" anchor="t" lIns="0" rIns="0" tIns="0" bIns="0">
            <a:spAutoFit/>
          </a:bodyPr>
          <a:lstStyle/>
          <a:p>
            <a:pPr>
              <a:spcBef>
                <a:spcPts val="0"/>
              </a:spcBef>
              <a:spcAft>
                <a:spcPts val="600"/>
              </a:spcAft>
            </a:pPr>
            <a:r>
              <a:rPr sz="2600" b="0" i="0">
                <a:solidFill>
                  <a:srgbClr val="E9F2F4"/>
                </a:solidFill>
                <a:latin typeface="Consolas"/>
              </a:rPr>
              <a:t>18</a:t>
            </a:r>
          </a:p>
          <a:p>
            <a:pPr>
              <a:lnSpc>
                <a:spcPct val="132000"/>
              </a:lnSpc>
              <a:spcBef>
                <a:spcPts val="0"/>
              </a:spcBef>
              <a:spcAft>
                <a:spcPts val="0"/>
              </a:spcAft>
            </a:pPr>
            <a:r>
              <a:rPr sz="1000" b="0" i="0">
                <a:solidFill>
                  <a:srgbClr val="7A939E"/>
                </a:solidFill>
                <a:latin typeface="Segoe UI"/>
              </a:rPr>
              <a:t>artifact types</a:t>
            </a:r>
          </a:p>
        </p:txBody>
      </p:sp>
      <p:sp>
        <p:nvSpPr>
          <p:cNvPr id="19" name="Rounded Rectangle 18"/>
          <p:cNvSpPr/>
          <p:nvPr/>
        </p:nvSpPr>
        <p:spPr>
          <a:xfrm>
            <a:off x="5041270" y="3214116"/>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87574" y="3378708"/>
            <a:ext cx="1816547" cy="868680"/>
          </a:xfrm>
          <a:prstGeom prst="rect">
            <a:avLst/>
          </a:prstGeom>
          <a:noFill/>
        </p:spPr>
        <p:txBody>
          <a:bodyPr wrap="square" anchor="t" lIns="0" rIns="0" tIns="0" bIns="0">
            <a:spAutoFit/>
          </a:bodyPr>
          <a:lstStyle/>
          <a:p>
            <a:pPr>
              <a:spcBef>
                <a:spcPts val="0"/>
              </a:spcBef>
              <a:spcAft>
                <a:spcPts val="600"/>
              </a:spcAft>
            </a:pPr>
            <a:r>
              <a:rPr sz="2600" b="0" i="0">
                <a:solidFill>
                  <a:srgbClr val="E9F2F4"/>
                </a:solidFill>
                <a:latin typeface="Consolas"/>
              </a:rPr>
              <a:t>14</a:t>
            </a:r>
          </a:p>
          <a:p>
            <a:pPr>
              <a:lnSpc>
                <a:spcPct val="132000"/>
              </a:lnSpc>
              <a:spcBef>
                <a:spcPts val="0"/>
              </a:spcBef>
              <a:spcAft>
                <a:spcPts val="0"/>
              </a:spcAft>
            </a:pPr>
            <a:r>
              <a:rPr sz="1000" b="0" i="0">
                <a:solidFill>
                  <a:srgbClr val="7A939E"/>
                </a:solidFill>
                <a:latin typeface="Segoe UI"/>
              </a:rPr>
              <a:t>workflows</a:t>
            </a:r>
          </a:p>
        </p:txBody>
      </p:sp>
      <p:sp>
        <p:nvSpPr>
          <p:cNvPr id="21" name="Rounded Rectangle 20"/>
          <p:cNvSpPr/>
          <p:nvPr/>
        </p:nvSpPr>
        <p:spPr>
          <a:xfrm>
            <a:off x="7232721" y="3214116"/>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379025" y="3378708"/>
            <a:ext cx="1816547" cy="868680"/>
          </a:xfrm>
          <a:prstGeom prst="rect">
            <a:avLst/>
          </a:prstGeom>
          <a:noFill/>
        </p:spPr>
        <p:txBody>
          <a:bodyPr wrap="square" anchor="t" lIns="0" rIns="0" tIns="0" bIns="0">
            <a:spAutoFit/>
          </a:bodyPr>
          <a:lstStyle/>
          <a:p>
            <a:pPr>
              <a:spcBef>
                <a:spcPts val="0"/>
              </a:spcBef>
              <a:spcAft>
                <a:spcPts val="600"/>
              </a:spcAft>
            </a:pPr>
            <a:r>
              <a:rPr sz="2600" b="0" i="0">
                <a:solidFill>
                  <a:srgbClr val="E9F2F4"/>
                </a:solidFill>
                <a:latin typeface="Consolas"/>
              </a:rPr>
              <a:t>12</a:t>
            </a:r>
          </a:p>
          <a:p>
            <a:pPr>
              <a:lnSpc>
                <a:spcPct val="132000"/>
              </a:lnSpc>
              <a:spcBef>
                <a:spcPts val="0"/>
              </a:spcBef>
              <a:spcAft>
                <a:spcPts val="0"/>
              </a:spcAft>
            </a:pPr>
            <a:r>
              <a:rPr sz="1000" b="0" i="0">
                <a:solidFill>
                  <a:srgbClr val="7A939E"/>
                </a:solidFill>
                <a:latin typeface="Segoe UI"/>
              </a:rPr>
              <a:t>architecture decision records</a:t>
            </a:r>
          </a:p>
        </p:txBody>
      </p:sp>
      <p:sp>
        <p:nvSpPr>
          <p:cNvPr id="23" name="Rounded Rectangle 22"/>
          <p:cNvSpPr/>
          <p:nvPr/>
        </p:nvSpPr>
        <p:spPr>
          <a:xfrm>
            <a:off x="9424172" y="3214116"/>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570476" y="3378708"/>
            <a:ext cx="1816547" cy="868680"/>
          </a:xfrm>
          <a:prstGeom prst="rect">
            <a:avLst/>
          </a:prstGeom>
          <a:noFill/>
        </p:spPr>
        <p:txBody>
          <a:bodyPr wrap="square" anchor="t" lIns="0" rIns="0" tIns="0" bIns="0">
            <a:spAutoFit/>
          </a:bodyPr>
          <a:lstStyle/>
          <a:p>
            <a:pPr>
              <a:spcBef>
                <a:spcPts val="0"/>
              </a:spcBef>
              <a:spcAft>
                <a:spcPts val="600"/>
              </a:spcAft>
            </a:pPr>
            <a:r>
              <a:rPr sz="2600" b="0" i="0">
                <a:solidFill>
                  <a:srgbClr val="E9F2F4"/>
                </a:solidFill>
                <a:latin typeface="Consolas"/>
              </a:rPr>
              <a:t>31</a:t>
            </a:r>
          </a:p>
          <a:p>
            <a:pPr>
              <a:lnSpc>
                <a:spcPct val="132000"/>
              </a:lnSpc>
              <a:spcBef>
                <a:spcPts val="0"/>
              </a:spcBef>
              <a:spcAft>
                <a:spcPts val="0"/>
              </a:spcAft>
            </a:pPr>
            <a:r>
              <a:rPr sz="1000" b="0" i="0">
                <a:solidFill>
                  <a:srgbClr val="7A939E"/>
                </a:solidFill>
                <a:latin typeface="Segoe UI"/>
              </a:rPr>
              <a:t>live sheets in production</a:t>
            </a:r>
          </a:p>
        </p:txBody>
      </p:sp>
      <p:sp>
        <p:nvSpPr>
          <p:cNvPr id="25" name="TextBox 24"/>
          <p:cNvSpPr txBox="1"/>
          <p:nvPr/>
        </p:nvSpPr>
        <p:spPr>
          <a:xfrm>
            <a:off x="658368" y="4722876"/>
            <a:ext cx="9601200" cy="731520"/>
          </a:xfrm>
          <a:prstGeom prst="rect">
            <a:avLst/>
          </a:prstGeom>
          <a:noFill/>
        </p:spPr>
        <p:txBody>
          <a:bodyPr wrap="square" anchor="t" lIns="0" rIns="0" tIns="0" bIns="0">
            <a:spAutoFit/>
          </a:bodyPr>
          <a:lstStyle/>
          <a:p>
            <a:pPr>
              <a:lnSpc>
                <a:spcPct val="142000"/>
              </a:lnSpc>
              <a:spcBef>
                <a:spcPts val="0"/>
              </a:spcBef>
              <a:spcAft>
                <a:spcPts val="700"/>
              </a:spcAft>
            </a:pPr>
            <a:r>
              <a:rPr sz="1400" b="0" i="0">
                <a:solidFill>
                  <a:srgbClr val="A8C0C8"/>
                </a:solidFill>
                <a:latin typeface="Segoe UI"/>
              </a:rPr>
              <a:t>These were queried from the repository and the running production database on the morning of this briefing. Any of them can be re-run in front of you.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THE GAPS  </a:t>
            </a:r>
            <a:r>
              <a:rPr sz="900" b="1" i="0" spc="140">
                <a:solidFill>
                  <a:srgbClr val="3EDCC2"/>
                </a:solidFill>
                <a:latin typeface="Consolas"/>
              </a:rPr>
              <a:t>14  </a:t>
            </a:r>
            <a:r>
              <a:rPr sz="900" b="0" i="0" spc="140">
                <a:solidFill>
                  <a:srgbClr val="7A939E"/>
                </a:solidFill>
                <a:latin typeface="Consolas"/>
              </a:rPr>
              <a:t>TOLD TO YOU, NOT FOUND BY YOU</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85900"/>
            <a:ext cx="2606040" cy="219456"/>
          </a:xfrm>
          <a:prstGeom prst="rect">
            <a:avLst/>
          </a:prstGeom>
          <a:noFill/>
        </p:spPr>
        <p:txBody>
          <a:bodyPr wrap="square" anchor="t" lIns="0" rIns="0" tIns="0" bIns="0">
            <a:spAutoFit/>
          </a:bodyPr>
          <a:lstStyle/>
          <a:p>
            <a:r>
              <a:rPr sz="850" b="0" i="0" spc="120">
                <a:solidFill>
                  <a:srgbClr val="7A939E"/>
                </a:solidFill>
                <a:latin typeface="Consolas"/>
              </a:rPr>
              <a:t>ENTERPRISE REQUIREMENT</a:t>
            </a:r>
          </a:p>
        </p:txBody>
      </p:sp>
      <p:sp>
        <p:nvSpPr>
          <p:cNvPr id="6" name="TextBox 5"/>
          <p:cNvSpPr txBox="1"/>
          <p:nvPr/>
        </p:nvSpPr>
        <p:spPr>
          <a:xfrm>
            <a:off x="3355848" y="1485900"/>
            <a:ext cx="1234440" cy="219456"/>
          </a:xfrm>
          <a:prstGeom prst="rect">
            <a:avLst/>
          </a:prstGeom>
          <a:noFill/>
        </p:spPr>
        <p:txBody>
          <a:bodyPr wrap="square" anchor="t" lIns="0" rIns="0" tIns="0" bIns="0">
            <a:spAutoFit/>
          </a:bodyPr>
          <a:lstStyle/>
          <a:p>
            <a:r>
              <a:rPr sz="850" b="0" i="0" spc="120">
                <a:solidFill>
                  <a:srgbClr val="7A939E"/>
                </a:solidFill>
                <a:latin typeface="Consolas"/>
              </a:rPr>
              <a:t>STATE</a:t>
            </a:r>
          </a:p>
        </p:txBody>
      </p:sp>
      <p:sp>
        <p:nvSpPr>
          <p:cNvPr id="7" name="TextBox 6"/>
          <p:cNvSpPr txBox="1"/>
          <p:nvPr/>
        </p:nvSpPr>
        <p:spPr>
          <a:xfrm>
            <a:off x="4700016" y="1485900"/>
            <a:ext cx="2679192" cy="219456"/>
          </a:xfrm>
          <a:prstGeom prst="rect">
            <a:avLst/>
          </a:prstGeom>
          <a:noFill/>
        </p:spPr>
        <p:txBody>
          <a:bodyPr wrap="square" anchor="t" lIns="0" rIns="0" tIns="0" bIns="0">
            <a:spAutoFit/>
          </a:bodyPr>
          <a:lstStyle/>
          <a:p>
            <a:r>
              <a:rPr sz="850" b="0" i="0" spc="120">
                <a:solidFill>
                  <a:srgbClr val="7A939E"/>
                </a:solidFill>
                <a:latin typeface="Consolas"/>
              </a:rPr>
              <a:t>NOTE</a:t>
            </a:r>
          </a:p>
        </p:txBody>
      </p:sp>
      <p:sp>
        <p:nvSpPr>
          <p:cNvPr id="8" name="Rectangle 7"/>
          <p:cNvSpPr/>
          <p:nvPr/>
        </p:nvSpPr>
        <p:spPr>
          <a:xfrm>
            <a:off x="658368" y="1723644"/>
            <a:ext cx="6720840" cy="11430"/>
          </a:xfrm>
          <a:prstGeom prst="rect">
            <a:avLst/>
          </a:prstGeom>
          <a:solidFill>
            <a:srgbClr val="2A4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888236"/>
            <a:ext cx="2606040" cy="365760"/>
          </a:xfrm>
          <a:prstGeom prst="rect">
            <a:avLst/>
          </a:prstGeom>
          <a:noFill/>
        </p:spPr>
        <p:txBody>
          <a:bodyPr wrap="square" anchor="t" lIns="0" rIns="0" tIns="0" bIns="0">
            <a:spAutoFit/>
          </a:bodyPr>
          <a:lstStyle/>
          <a:p>
            <a:r>
              <a:rPr sz="1100" b="0" i="0">
                <a:solidFill>
                  <a:srgbClr val="E9F2F4"/>
                </a:solidFill>
                <a:latin typeface="Segoe UI"/>
              </a:rPr>
              <a:t>SSO — SAML / OIDC</a:t>
            </a:r>
          </a:p>
        </p:txBody>
      </p:sp>
      <p:sp>
        <p:nvSpPr>
          <p:cNvPr id="10" name="Rounded Rectangle 9"/>
          <p:cNvSpPr/>
          <p:nvPr/>
        </p:nvSpPr>
        <p:spPr>
          <a:xfrm>
            <a:off x="3355848" y="1879092"/>
            <a:ext cx="1024128" cy="237744"/>
          </a:xfrm>
          <a:prstGeom prst="roundRect">
            <a:avLst>
              <a:gd name="adj" fmla="val 14000"/>
            </a:avLst>
          </a:prstGeom>
          <a:solidFill>
            <a:srgbClr val="2C1715"/>
          </a:solidFill>
          <a:ln w="9525">
            <a:solidFill>
              <a:srgbClr val="2C171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355848" y="1924812"/>
            <a:ext cx="1024128" cy="201168"/>
          </a:xfrm>
          <a:prstGeom prst="rect">
            <a:avLst/>
          </a:prstGeom>
          <a:noFill/>
        </p:spPr>
        <p:txBody>
          <a:bodyPr wrap="square" anchor="t" lIns="0" rIns="0" tIns="0" bIns="0">
            <a:spAutoFit/>
          </a:bodyPr>
          <a:lstStyle/>
          <a:p>
            <a:pPr algn="ctr"/>
            <a:r>
              <a:rPr sz="750" b="0" i="0" spc="70">
                <a:solidFill>
                  <a:srgbClr val="F0837B"/>
                </a:solidFill>
                <a:latin typeface="Consolas"/>
              </a:rPr>
              <a:t>NOT BUILT</a:t>
            </a:r>
          </a:p>
        </p:txBody>
      </p:sp>
      <p:sp>
        <p:nvSpPr>
          <p:cNvPr id="12" name="TextBox 11"/>
          <p:cNvSpPr txBox="1"/>
          <p:nvPr/>
        </p:nvSpPr>
        <p:spPr>
          <a:xfrm>
            <a:off x="4700016" y="1879092"/>
            <a:ext cx="2679192" cy="411480"/>
          </a:xfrm>
          <a:prstGeom prst="rect">
            <a:avLst/>
          </a:prstGeom>
          <a:noFill/>
        </p:spPr>
        <p:txBody>
          <a:bodyPr wrap="square" anchor="t" lIns="0" rIns="0" tIns="0" bIns="0">
            <a:spAutoFit/>
          </a:bodyPr>
          <a:lstStyle/>
          <a:p>
            <a:pPr>
              <a:lnSpc>
                <a:spcPct val="130000"/>
              </a:lnSpc>
              <a:spcBef>
                <a:spcPts val="0"/>
              </a:spcBef>
              <a:spcAft>
                <a:spcPts val="0"/>
              </a:spcAft>
            </a:pPr>
            <a:r>
              <a:rPr sz="950" b="0" i="0">
                <a:solidFill>
                  <a:srgbClr val="A8C0C8"/>
                </a:solidFill>
                <a:latin typeface="Segoe UI"/>
              </a:rPr>
              <a:t>Deal blocker. Named in the platform spec.</a:t>
            </a:r>
          </a:p>
        </p:txBody>
      </p:sp>
      <p:sp>
        <p:nvSpPr>
          <p:cNvPr id="13" name="Rectangle 12"/>
          <p:cNvSpPr/>
          <p:nvPr/>
        </p:nvSpPr>
        <p:spPr>
          <a:xfrm>
            <a:off x="658368" y="2253996"/>
            <a:ext cx="6720840" cy="7620"/>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350008"/>
            <a:ext cx="2606040" cy="365760"/>
          </a:xfrm>
          <a:prstGeom prst="rect">
            <a:avLst/>
          </a:prstGeom>
          <a:noFill/>
        </p:spPr>
        <p:txBody>
          <a:bodyPr wrap="square" anchor="t" lIns="0" rIns="0" tIns="0" bIns="0">
            <a:spAutoFit/>
          </a:bodyPr>
          <a:lstStyle/>
          <a:p>
            <a:r>
              <a:rPr sz="1100" b="0" i="0">
                <a:solidFill>
                  <a:srgbClr val="E9F2F4"/>
                </a:solidFill>
                <a:latin typeface="Segoe UI"/>
              </a:rPr>
              <a:t>MFA</a:t>
            </a:r>
          </a:p>
        </p:txBody>
      </p:sp>
      <p:sp>
        <p:nvSpPr>
          <p:cNvPr id="15" name="Rounded Rectangle 14"/>
          <p:cNvSpPr/>
          <p:nvPr/>
        </p:nvSpPr>
        <p:spPr>
          <a:xfrm>
            <a:off x="3355848" y="2340864"/>
            <a:ext cx="1024128" cy="237744"/>
          </a:xfrm>
          <a:prstGeom prst="roundRect">
            <a:avLst>
              <a:gd name="adj" fmla="val 14000"/>
            </a:avLst>
          </a:prstGeom>
          <a:solidFill>
            <a:srgbClr val="2C1715"/>
          </a:solidFill>
          <a:ln w="9525">
            <a:solidFill>
              <a:srgbClr val="2C171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355848" y="2386584"/>
            <a:ext cx="1024128" cy="201168"/>
          </a:xfrm>
          <a:prstGeom prst="rect">
            <a:avLst/>
          </a:prstGeom>
          <a:noFill/>
        </p:spPr>
        <p:txBody>
          <a:bodyPr wrap="square" anchor="t" lIns="0" rIns="0" tIns="0" bIns="0">
            <a:spAutoFit/>
          </a:bodyPr>
          <a:lstStyle/>
          <a:p>
            <a:pPr algn="ctr"/>
            <a:r>
              <a:rPr sz="750" b="0" i="0" spc="70">
                <a:solidFill>
                  <a:srgbClr val="F0837B"/>
                </a:solidFill>
                <a:latin typeface="Consolas"/>
              </a:rPr>
              <a:t>NOT BUILT</a:t>
            </a:r>
          </a:p>
        </p:txBody>
      </p:sp>
      <p:sp>
        <p:nvSpPr>
          <p:cNvPr id="17" name="TextBox 16"/>
          <p:cNvSpPr txBox="1"/>
          <p:nvPr/>
        </p:nvSpPr>
        <p:spPr>
          <a:xfrm>
            <a:off x="4700016" y="2340864"/>
            <a:ext cx="2679192" cy="411480"/>
          </a:xfrm>
          <a:prstGeom prst="rect">
            <a:avLst/>
          </a:prstGeom>
          <a:noFill/>
        </p:spPr>
        <p:txBody>
          <a:bodyPr wrap="square" anchor="t" lIns="0" rIns="0" tIns="0" bIns="0">
            <a:spAutoFit/>
          </a:bodyPr>
          <a:lstStyle/>
          <a:p>
            <a:pPr>
              <a:lnSpc>
                <a:spcPct val="130000"/>
              </a:lnSpc>
              <a:spcBef>
                <a:spcPts val="0"/>
              </a:spcBef>
              <a:spcAft>
                <a:spcPts val="0"/>
              </a:spcAft>
            </a:pPr>
            <a:r>
              <a:rPr sz="950" b="0" i="0">
                <a:solidFill>
                  <a:srgbClr val="A8C0C8"/>
                </a:solidFill>
                <a:latin typeface="Segoe UI"/>
              </a:rPr>
              <a:t>Deal blocker.</a:t>
            </a:r>
          </a:p>
        </p:txBody>
      </p:sp>
      <p:sp>
        <p:nvSpPr>
          <p:cNvPr id="18" name="Rectangle 17"/>
          <p:cNvSpPr/>
          <p:nvPr/>
        </p:nvSpPr>
        <p:spPr>
          <a:xfrm>
            <a:off x="658368" y="2715768"/>
            <a:ext cx="6720840" cy="7620"/>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2811780"/>
            <a:ext cx="2606040" cy="365760"/>
          </a:xfrm>
          <a:prstGeom prst="rect">
            <a:avLst/>
          </a:prstGeom>
          <a:noFill/>
        </p:spPr>
        <p:txBody>
          <a:bodyPr wrap="square" anchor="t" lIns="0" rIns="0" tIns="0" bIns="0">
            <a:spAutoFit/>
          </a:bodyPr>
          <a:lstStyle/>
          <a:p>
            <a:r>
              <a:rPr sz="1100" b="0" i="0">
                <a:solidFill>
                  <a:srgbClr val="E9F2F4"/>
                </a:solidFill>
                <a:latin typeface="Segoe UI"/>
              </a:rPr>
              <a:t>Encryption at rest + KMS</a:t>
            </a:r>
          </a:p>
        </p:txBody>
      </p:sp>
      <p:sp>
        <p:nvSpPr>
          <p:cNvPr id="20" name="Rounded Rectangle 19"/>
          <p:cNvSpPr/>
          <p:nvPr/>
        </p:nvSpPr>
        <p:spPr>
          <a:xfrm>
            <a:off x="3355848" y="2802636"/>
            <a:ext cx="1024128" cy="237744"/>
          </a:xfrm>
          <a:prstGeom prst="roundRect">
            <a:avLst>
              <a:gd name="adj" fmla="val 14000"/>
            </a:avLst>
          </a:prstGeom>
          <a:solidFill>
            <a:srgbClr val="2C1715"/>
          </a:solidFill>
          <a:ln w="9525">
            <a:solidFill>
              <a:srgbClr val="2C171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355848" y="2848356"/>
            <a:ext cx="1024128" cy="201168"/>
          </a:xfrm>
          <a:prstGeom prst="rect">
            <a:avLst/>
          </a:prstGeom>
          <a:noFill/>
        </p:spPr>
        <p:txBody>
          <a:bodyPr wrap="square" anchor="t" lIns="0" rIns="0" tIns="0" bIns="0">
            <a:spAutoFit/>
          </a:bodyPr>
          <a:lstStyle/>
          <a:p>
            <a:pPr algn="ctr"/>
            <a:r>
              <a:rPr sz="750" b="0" i="0" spc="70">
                <a:solidFill>
                  <a:srgbClr val="F0837B"/>
                </a:solidFill>
                <a:latin typeface="Consolas"/>
              </a:rPr>
              <a:t>NOT BUILT</a:t>
            </a:r>
          </a:p>
        </p:txBody>
      </p:sp>
      <p:sp>
        <p:nvSpPr>
          <p:cNvPr id="22" name="TextBox 21"/>
          <p:cNvSpPr txBox="1"/>
          <p:nvPr/>
        </p:nvSpPr>
        <p:spPr>
          <a:xfrm>
            <a:off x="4700016" y="2802636"/>
            <a:ext cx="2679192" cy="411480"/>
          </a:xfrm>
          <a:prstGeom prst="rect">
            <a:avLst/>
          </a:prstGeom>
          <a:noFill/>
        </p:spPr>
        <p:txBody>
          <a:bodyPr wrap="square" anchor="t" lIns="0" rIns="0" tIns="0" bIns="0">
            <a:spAutoFit/>
          </a:bodyPr>
          <a:lstStyle/>
          <a:p>
            <a:pPr>
              <a:lnSpc>
                <a:spcPct val="130000"/>
              </a:lnSpc>
              <a:spcBef>
                <a:spcPts val="0"/>
              </a:spcBef>
              <a:spcAft>
                <a:spcPts val="0"/>
              </a:spcAft>
            </a:pPr>
            <a:r>
              <a:rPr sz="950" b="0" i="0">
                <a:solidFill>
                  <a:srgbClr val="A8C0C8"/>
                </a:solidFill>
                <a:latin typeface="Segoe UI"/>
              </a:rPr>
              <a:t>Specified, not yet implemented.</a:t>
            </a:r>
          </a:p>
        </p:txBody>
      </p:sp>
      <p:sp>
        <p:nvSpPr>
          <p:cNvPr id="23" name="Rectangle 22"/>
          <p:cNvSpPr/>
          <p:nvPr/>
        </p:nvSpPr>
        <p:spPr>
          <a:xfrm>
            <a:off x="658368" y="3177540"/>
            <a:ext cx="6720840" cy="7620"/>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3273552"/>
            <a:ext cx="2606040" cy="365760"/>
          </a:xfrm>
          <a:prstGeom prst="rect">
            <a:avLst/>
          </a:prstGeom>
          <a:noFill/>
        </p:spPr>
        <p:txBody>
          <a:bodyPr wrap="square" anchor="t" lIns="0" rIns="0" tIns="0" bIns="0">
            <a:spAutoFit/>
          </a:bodyPr>
          <a:lstStyle/>
          <a:p>
            <a:r>
              <a:rPr sz="1100" b="0" i="0">
                <a:solidFill>
                  <a:srgbClr val="E9F2F4"/>
                </a:solidFill>
                <a:latin typeface="Segoe UI"/>
              </a:rPr>
              <a:t>CI running the suite</a:t>
            </a:r>
          </a:p>
        </p:txBody>
      </p:sp>
      <p:sp>
        <p:nvSpPr>
          <p:cNvPr id="25" name="Rounded Rectangle 24"/>
          <p:cNvSpPr/>
          <p:nvPr/>
        </p:nvSpPr>
        <p:spPr>
          <a:xfrm>
            <a:off x="3355848" y="3264407"/>
            <a:ext cx="1024128" cy="237744"/>
          </a:xfrm>
          <a:prstGeom prst="roundRect">
            <a:avLst>
              <a:gd name="adj" fmla="val 14000"/>
            </a:avLst>
          </a:prstGeom>
          <a:solidFill>
            <a:srgbClr val="2C1715"/>
          </a:solidFill>
          <a:ln w="9525">
            <a:solidFill>
              <a:srgbClr val="2C171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355848" y="3310128"/>
            <a:ext cx="1024128" cy="201168"/>
          </a:xfrm>
          <a:prstGeom prst="rect">
            <a:avLst/>
          </a:prstGeom>
          <a:noFill/>
        </p:spPr>
        <p:txBody>
          <a:bodyPr wrap="square" anchor="t" lIns="0" rIns="0" tIns="0" bIns="0">
            <a:spAutoFit/>
          </a:bodyPr>
          <a:lstStyle/>
          <a:p>
            <a:pPr algn="ctr"/>
            <a:r>
              <a:rPr sz="750" b="0" i="0" spc="70">
                <a:solidFill>
                  <a:srgbClr val="F0837B"/>
                </a:solidFill>
                <a:latin typeface="Consolas"/>
              </a:rPr>
              <a:t>0 RUNS</a:t>
            </a:r>
          </a:p>
        </p:txBody>
      </p:sp>
      <p:sp>
        <p:nvSpPr>
          <p:cNvPr id="27" name="TextBox 26"/>
          <p:cNvSpPr txBox="1"/>
          <p:nvPr/>
        </p:nvSpPr>
        <p:spPr>
          <a:xfrm>
            <a:off x="4700016" y="3264407"/>
            <a:ext cx="2679192" cy="411480"/>
          </a:xfrm>
          <a:prstGeom prst="rect">
            <a:avLst/>
          </a:prstGeom>
          <a:noFill/>
        </p:spPr>
        <p:txBody>
          <a:bodyPr wrap="square" anchor="t" lIns="0" rIns="0" tIns="0" bIns="0">
            <a:spAutoFit/>
          </a:bodyPr>
          <a:lstStyle/>
          <a:p>
            <a:pPr>
              <a:lnSpc>
                <a:spcPct val="130000"/>
              </a:lnSpc>
              <a:spcBef>
                <a:spcPts val="0"/>
              </a:spcBef>
              <a:spcAft>
                <a:spcPts val="0"/>
              </a:spcAft>
            </a:pPr>
            <a:r>
              <a:rPr sz="950" b="0" i="0">
                <a:solidFill>
                  <a:srgbClr val="A8C0C8"/>
                </a:solidFill>
                <a:latin typeface="Segoe UI"/>
              </a:rPr>
              <a:t>Six workflow files exist; none has executed.</a:t>
            </a:r>
          </a:p>
        </p:txBody>
      </p:sp>
      <p:sp>
        <p:nvSpPr>
          <p:cNvPr id="28" name="Rectangle 27"/>
          <p:cNvSpPr/>
          <p:nvPr/>
        </p:nvSpPr>
        <p:spPr>
          <a:xfrm>
            <a:off x="658368" y="3639312"/>
            <a:ext cx="6720840" cy="7620"/>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3735324"/>
            <a:ext cx="2606040" cy="365760"/>
          </a:xfrm>
          <a:prstGeom prst="rect">
            <a:avLst/>
          </a:prstGeom>
          <a:noFill/>
        </p:spPr>
        <p:txBody>
          <a:bodyPr wrap="square" anchor="t" lIns="0" rIns="0" tIns="0" bIns="0">
            <a:spAutoFit/>
          </a:bodyPr>
          <a:lstStyle/>
          <a:p>
            <a:r>
              <a:rPr sz="1100" b="0" i="0">
                <a:solidFill>
                  <a:srgbClr val="E9F2F4"/>
                </a:solidFill>
                <a:latin typeface="Segoe UI"/>
              </a:rPr>
              <a:t>Staging environment</a:t>
            </a:r>
          </a:p>
        </p:txBody>
      </p:sp>
      <p:sp>
        <p:nvSpPr>
          <p:cNvPr id="30" name="Rounded Rectangle 29"/>
          <p:cNvSpPr/>
          <p:nvPr/>
        </p:nvSpPr>
        <p:spPr>
          <a:xfrm>
            <a:off x="3355848" y="3726179"/>
            <a:ext cx="1024128" cy="237744"/>
          </a:xfrm>
          <a:prstGeom prst="roundRect">
            <a:avLst>
              <a:gd name="adj" fmla="val 14000"/>
            </a:avLst>
          </a:prstGeom>
          <a:solidFill>
            <a:srgbClr val="2C1715"/>
          </a:solidFill>
          <a:ln w="9525">
            <a:solidFill>
              <a:srgbClr val="2C171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355848" y="3771900"/>
            <a:ext cx="1024128" cy="201168"/>
          </a:xfrm>
          <a:prstGeom prst="rect">
            <a:avLst/>
          </a:prstGeom>
          <a:noFill/>
        </p:spPr>
        <p:txBody>
          <a:bodyPr wrap="square" anchor="t" lIns="0" rIns="0" tIns="0" bIns="0">
            <a:spAutoFit/>
          </a:bodyPr>
          <a:lstStyle/>
          <a:p>
            <a:pPr algn="ctr"/>
            <a:r>
              <a:rPr sz="750" b="0" i="0" spc="70">
                <a:solidFill>
                  <a:srgbClr val="F0837B"/>
                </a:solidFill>
                <a:latin typeface="Consolas"/>
              </a:rPr>
              <a:t>NONE</a:t>
            </a:r>
          </a:p>
        </p:txBody>
      </p:sp>
      <p:sp>
        <p:nvSpPr>
          <p:cNvPr id="32" name="TextBox 31"/>
          <p:cNvSpPr txBox="1"/>
          <p:nvPr/>
        </p:nvSpPr>
        <p:spPr>
          <a:xfrm>
            <a:off x="4700016" y="3726179"/>
            <a:ext cx="2679192" cy="411480"/>
          </a:xfrm>
          <a:prstGeom prst="rect">
            <a:avLst/>
          </a:prstGeom>
          <a:noFill/>
        </p:spPr>
        <p:txBody>
          <a:bodyPr wrap="square" anchor="t" lIns="0" rIns="0" tIns="0" bIns="0">
            <a:spAutoFit/>
          </a:bodyPr>
          <a:lstStyle/>
          <a:p>
            <a:pPr>
              <a:lnSpc>
                <a:spcPct val="130000"/>
              </a:lnSpc>
              <a:spcBef>
                <a:spcPts val="0"/>
              </a:spcBef>
              <a:spcAft>
                <a:spcPts val="0"/>
              </a:spcAft>
            </a:pPr>
            <a:r>
              <a:rPr sz="950" b="0" i="0">
                <a:solidFill>
                  <a:srgbClr val="A8C0C8"/>
                </a:solidFill>
                <a:latin typeface="Segoe UI"/>
              </a:rPr>
              <a:t>Changes are validated in production.</a:t>
            </a:r>
          </a:p>
        </p:txBody>
      </p:sp>
      <p:sp>
        <p:nvSpPr>
          <p:cNvPr id="33" name="Rectangle 32"/>
          <p:cNvSpPr/>
          <p:nvPr/>
        </p:nvSpPr>
        <p:spPr>
          <a:xfrm>
            <a:off x="658368" y="4101083"/>
            <a:ext cx="6720840" cy="7620"/>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4197095"/>
            <a:ext cx="2606040" cy="365760"/>
          </a:xfrm>
          <a:prstGeom prst="rect">
            <a:avLst/>
          </a:prstGeom>
          <a:noFill/>
        </p:spPr>
        <p:txBody>
          <a:bodyPr wrap="square" anchor="t" lIns="0" rIns="0" tIns="0" bIns="0">
            <a:spAutoFit/>
          </a:bodyPr>
          <a:lstStyle/>
          <a:p>
            <a:r>
              <a:rPr sz="1100" b="0" i="0">
                <a:solidFill>
                  <a:srgbClr val="E9F2F4"/>
                </a:solidFill>
                <a:latin typeface="Segoe UI"/>
              </a:rPr>
              <a:t>Backup with tested restore</a:t>
            </a:r>
          </a:p>
        </p:txBody>
      </p:sp>
      <p:sp>
        <p:nvSpPr>
          <p:cNvPr id="35" name="Rounded Rectangle 34"/>
          <p:cNvSpPr/>
          <p:nvPr/>
        </p:nvSpPr>
        <p:spPr>
          <a:xfrm>
            <a:off x="3355848" y="4187951"/>
            <a:ext cx="1024128" cy="237744"/>
          </a:xfrm>
          <a:prstGeom prst="roundRect">
            <a:avLst>
              <a:gd name="adj" fmla="val 14000"/>
            </a:avLst>
          </a:prstGeom>
          <a:solidFill>
            <a:srgbClr val="2C1715"/>
          </a:solidFill>
          <a:ln w="9525">
            <a:solidFill>
              <a:srgbClr val="2C171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355848" y="4233671"/>
            <a:ext cx="1024128" cy="201168"/>
          </a:xfrm>
          <a:prstGeom prst="rect">
            <a:avLst/>
          </a:prstGeom>
          <a:noFill/>
        </p:spPr>
        <p:txBody>
          <a:bodyPr wrap="square" anchor="t" lIns="0" rIns="0" tIns="0" bIns="0">
            <a:spAutoFit/>
          </a:bodyPr>
          <a:lstStyle/>
          <a:p>
            <a:pPr algn="ctr"/>
            <a:r>
              <a:rPr sz="750" b="0" i="0" spc="70">
                <a:solidFill>
                  <a:srgbClr val="F0837B"/>
                </a:solidFill>
                <a:latin typeface="Consolas"/>
              </a:rPr>
              <a:t>NONE</a:t>
            </a:r>
          </a:p>
        </p:txBody>
      </p:sp>
      <p:sp>
        <p:nvSpPr>
          <p:cNvPr id="37" name="TextBox 36"/>
          <p:cNvSpPr txBox="1"/>
          <p:nvPr/>
        </p:nvSpPr>
        <p:spPr>
          <a:xfrm>
            <a:off x="4700016" y="4187951"/>
            <a:ext cx="2679192" cy="411480"/>
          </a:xfrm>
          <a:prstGeom prst="rect">
            <a:avLst/>
          </a:prstGeom>
          <a:noFill/>
        </p:spPr>
        <p:txBody>
          <a:bodyPr wrap="square" anchor="t" lIns="0" rIns="0" tIns="0" bIns="0">
            <a:spAutoFit/>
          </a:bodyPr>
          <a:lstStyle/>
          <a:p>
            <a:pPr>
              <a:lnSpc>
                <a:spcPct val="130000"/>
              </a:lnSpc>
              <a:spcBef>
                <a:spcPts val="0"/>
              </a:spcBef>
              <a:spcAft>
                <a:spcPts val="0"/>
              </a:spcAft>
            </a:pPr>
            <a:r>
              <a:rPr sz="950" b="0" i="0">
                <a:solidFill>
                  <a:srgbClr val="A8C0C8"/>
                </a:solidFill>
                <a:latin typeface="Segoe UI"/>
              </a:rPr>
              <a:t>An untested restore is not a backup.</a:t>
            </a:r>
          </a:p>
        </p:txBody>
      </p:sp>
      <p:sp>
        <p:nvSpPr>
          <p:cNvPr id="38" name="Rectangle 37"/>
          <p:cNvSpPr/>
          <p:nvPr/>
        </p:nvSpPr>
        <p:spPr>
          <a:xfrm>
            <a:off x="658368" y="4562856"/>
            <a:ext cx="6720840" cy="7620"/>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4658868"/>
            <a:ext cx="2606040" cy="365760"/>
          </a:xfrm>
          <a:prstGeom prst="rect">
            <a:avLst/>
          </a:prstGeom>
          <a:noFill/>
        </p:spPr>
        <p:txBody>
          <a:bodyPr wrap="square" anchor="t" lIns="0" rIns="0" tIns="0" bIns="0">
            <a:spAutoFit/>
          </a:bodyPr>
          <a:lstStyle/>
          <a:p>
            <a:r>
              <a:rPr sz="1100" b="0" i="0">
                <a:solidFill>
                  <a:srgbClr val="E9F2F4"/>
                </a:solidFill>
                <a:latin typeface="Segoe UI"/>
              </a:rPr>
              <a:t>Retrieval / RAG</a:t>
            </a:r>
          </a:p>
        </p:txBody>
      </p:sp>
      <p:sp>
        <p:nvSpPr>
          <p:cNvPr id="40" name="Rounded Rectangle 39"/>
          <p:cNvSpPr/>
          <p:nvPr/>
        </p:nvSpPr>
        <p:spPr>
          <a:xfrm>
            <a:off x="3355848" y="4649724"/>
            <a:ext cx="1024128" cy="237744"/>
          </a:xfrm>
          <a:prstGeom prst="roundRect">
            <a:avLst>
              <a:gd name="adj" fmla="val 14000"/>
            </a:avLst>
          </a:prstGeom>
          <a:solidFill>
            <a:srgbClr val="2A2110"/>
          </a:solidFill>
          <a:ln w="9525">
            <a:solidFill>
              <a:srgbClr val="2A211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355848" y="4695444"/>
            <a:ext cx="1024128" cy="201168"/>
          </a:xfrm>
          <a:prstGeom prst="rect">
            <a:avLst/>
          </a:prstGeom>
          <a:noFill/>
        </p:spPr>
        <p:txBody>
          <a:bodyPr wrap="square" anchor="t" lIns="0" rIns="0" tIns="0" bIns="0">
            <a:spAutoFit/>
          </a:bodyPr>
          <a:lstStyle/>
          <a:p>
            <a:pPr algn="ctr"/>
            <a:r>
              <a:rPr sz="750" b="0" i="0" spc="70">
                <a:solidFill>
                  <a:srgbClr val="E0A85A"/>
                </a:solidFill>
                <a:latin typeface="Consolas"/>
              </a:rPr>
              <a:t>PARTIAL</a:t>
            </a:r>
          </a:p>
        </p:txBody>
      </p:sp>
      <p:sp>
        <p:nvSpPr>
          <p:cNvPr id="42" name="TextBox 41"/>
          <p:cNvSpPr txBox="1"/>
          <p:nvPr/>
        </p:nvSpPr>
        <p:spPr>
          <a:xfrm>
            <a:off x="4700016" y="4649724"/>
            <a:ext cx="2679192" cy="411480"/>
          </a:xfrm>
          <a:prstGeom prst="rect">
            <a:avLst/>
          </a:prstGeom>
          <a:noFill/>
        </p:spPr>
        <p:txBody>
          <a:bodyPr wrap="square" anchor="t" lIns="0" rIns="0" tIns="0" bIns="0">
            <a:spAutoFit/>
          </a:bodyPr>
          <a:lstStyle/>
          <a:p>
            <a:pPr>
              <a:lnSpc>
                <a:spcPct val="130000"/>
              </a:lnSpc>
              <a:spcBef>
                <a:spcPts val="0"/>
              </a:spcBef>
              <a:spcAft>
                <a:spcPts val="0"/>
              </a:spcAft>
            </a:pPr>
            <a:r>
              <a:rPr sz="950" b="0" i="0">
                <a:solidFill>
                  <a:srgbClr val="A8C0C8"/>
                </a:solidFill>
                <a:latin typeface="Segoe UI"/>
              </a:rPr>
              <a:t>Wired for DocLogix; no embeddings generated yet.</a:t>
            </a:r>
          </a:p>
        </p:txBody>
      </p:sp>
      <p:sp>
        <p:nvSpPr>
          <p:cNvPr id="43" name="Rectangle 42"/>
          <p:cNvSpPr/>
          <p:nvPr/>
        </p:nvSpPr>
        <p:spPr>
          <a:xfrm>
            <a:off x="658368" y="5024628"/>
            <a:ext cx="6720840" cy="7620"/>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 y="5120640"/>
            <a:ext cx="2606040" cy="365760"/>
          </a:xfrm>
          <a:prstGeom prst="rect">
            <a:avLst/>
          </a:prstGeom>
          <a:noFill/>
        </p:spPr>
        <p:txBody>
          <a:bodyPr wrap="square" anchor="t" lIns="0" rIns="0" tIns="0" bIns="0">
            <a:spAutoFit/>
          </a:bodyPr>
          <a:lstStyle/>
          <a:p>
            <a:r>
              <a:rPr sz="1100" b="0" i="0">
                <a:solidFill>
                  <a:srgbClr val="E9F2F4"/>
                </a:solidFill>
                <a:latin typeface="Segoe UI"/>
              </a:rPr>
              <a:t>AI policy enforcement</a:t>
            </a:r>
          </a:p>
        </p:txBody>
      </p:sp>
      <p:sp>
        <p:nvSpPr>
          <p:cNvPr id="45" name="Rounded Rectangle 44"/>
          <p:cNvSpPr/>
          <p:nvPr/>
        </p:nvSpPr>
        <p:spPr>
          <a:xfrm>
            <a:off x="3355848" y="5111496"/>
            <a:ext cx="1024128" cy="237744"/>
          </a:xfrm>
          <a:prstGeom prst="roundRect">
            <a:avLst>
              <a:gd name="adj" fmla="val 14000"/>
            </a:avLst>
          </a:prstGeom>
          <a:solidFill>
            <a:srgbClr val="2A2110"/>
          </a:solidFill>
          <a:ln w="9525">
            <a:solidFill>
              <a:srgbClr val="2A211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3355848" y="5157216"/>
            <a:ext cx="1024128" cy="201168"/>
          </a:xfrm>
          <a:prstGeom prst="rect">
            <a:avLst/>
          </a:prstGeom>
          <a:noFill/>
        </p:spPr>
        <p:txBody>
          <a:bodyPr wrap="square" anchor="t" lIns="0" rIns="0" tIns="0" bIns="0">
            <a:spAutoFit/>
          </a:bodyPr>
          <a:lstStyle/>
          <a:p>
            <a:pPr algn="ctr"/>
            <a:r>
              <a:rPr sz="750" b="0" i="0" spc="70">
                <a:solidFill>
                  <a:srgbClr val="E0A85A"/>
                </a:solidFill>
                <a:latin typeface="Consolas"/>
              </a:rPr>
              <a:t>REPORT-ONLY</a:t>
            </a:r>
          </a:p>
        </p:txBody>
      </p:sp>
      <p:sp>
        <p:nvSpPr>
          <p:cNvPr id="47" name="TextBox 46"/>
          <p:cNvSpPr txBox="1"/>
          <p:nvPr/>
        </p:nvSpPr>
        <p:spPr>
          <a:xfrm>
            <a:off x="4700016" y="5111496"/>
            <a:ext cx="2679192" cy="411480"/>
          </a:xfrm>
          <a:prstGeom prst="rect">
            <a:avLst/>
          </a:prstGeom>
          <a:noFill/>
        </p:spPr>
        <p:txBody>
          <a:bodyPr wrap="square" anchor="t" lIns="0" rIns="0" tIns="0" bIns="0">
            <a:spAutoFit/>
          </a:bodyPr>
          <a:lstStyle/>
          <a:p>
            <a:pPr>
              <a:lnSpc>
                <a:spcPct val="130000"/>
              </a:lnSpc>
              <a:spcBef>
                <a:spcPts val="0"/>
              </a:spcBef>
              <a:spcAft>
                <a:spcPts val="0"/>
              </a:spcAft>
            </a:pPr>
            <a:r>
              <a:rPr sz="950" b="0" i="0">
                <a:solidFill>
                  <a:srgbClr val="A8C0C8"/>
                </a:solidFill>
                <a:latin typeface="Segoe UI"/>
              </a:rPr>
              <a:t>Wired and recording; enforcement behind a flag.</a:t>
            </a:r>
          </a:p>
        </p:txBody>
      </p:sp>
      <p:sp>
        <p:nvSpPr>
          <p:cNvPr id="48" name="Rectangle 47"/>
          <p:cNvSpPr/>
          <p:nvPr/>
        </p:nvSpPr>
        <p:spPr>
          <a:xfrm>
            <a:off x="658368" y="5486400"/>
            <a:ext cx="6720840" cy="7620"/>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60920" y="1467612"/>
            <a:ext cx="4169663" cy="1463040"/>
          </a:xfrm>
          <a:prstGeom prst="rect">
            <a:avLst/>
          </a:prstGeom>
          <a:noFill/>
        </p:spPr>
        <p:txBody>
          <a:bodyPr wrap="square" anchor="t" lIns="0" rIns="0" tIns="0" bIns="0">
            <a:spAutoFit/>
          </a:bodyPr>
          <a:lstStyle/>
          <a:p>
            <a:pPr>
              <a:lnSpc>
                <a:spcPct val="112000"/>
              </a:lnSpc>
              <a:spcBef>
                <a:spcPts val="0"/>
              </a:spcBef>
              <a:spcAft>
                <a:spcPts val="0"/>
              </a:spcAft>
            </a:pPr>
            <a:r>
              <a:rPr sz="2200" b="1" i="0">
                <a:solidFill>
                  <a:srgbClr val="E9F2F4"/>
                </a:solidFill>
                <a:latin typeface="Segoe UI"/>
              </a:rPr>
              <a:t>Sixteen open P0s. These are the eight you would have found.</a:t>
            </a:r>
          </a:p>
        </p:txBody>
      </p:sp>
      <p:sp>
        <p:nvSpPr>
          <p:cNvPr id="50" name="Rounded Rectangle 49"/>
          <p:cNvSpPr/>
          <p:nvPr/>
        </p:nvSpPr>
        <p:spPr>
          <a:xfrm>
            <a:off x="7360920" y="3296412"/>
            <a:ext cx="4169663" cy="1234440"/>
          </a:xfrm>
          <a:prstGeom prst="roundRect">
            <a:avLst>
              <a:gd name="adj" fmla="val 4500"/>
            </a:avLst>
          </a:prstGeom>
          <a:solidFill>
            <a:srgbClr val="0C2F2D"/>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516368" y="3433571"/>
            <a:ext cx="3858768" cy="960120"/>
          </a:xfrm>
          <a:prstGeom prst="rect">
            <a:avLst/>
          </a:prstGeom>
          <a:noFill/>
        </p:spPr>
        <p:txBody>
          <a:bodyPr wrap="square" anchor="t" lIns="0" rIns="0" tIns="0" bIns="0">
            <a:spAutoFit/>
          </a:bodyPr>
          <a:lstStyle/>
          <a:p>
            <a:pPr>
              <a:lnSpc>
                <a:spcPct val="138000"/>
              </a:lnSpc>
              <a:spcBef>
                <a:spcPts val="0"/>
              </a:spcBef>
              <a:spcAft>
                <a:spcPts val="0"/>
              </a:spcAft>
            </a:pPr>
            <a:r>
              <a:rPr sz="1200" b="0" i="0">
                <a:solidFill>
                  <a:srgbClr val="E9F2F4"/>
                </a:solidFill>
                <a:latin typeface="Segoe UI"/>
              </a:rPr>
              <a:t>You will find every one of these in a diligence pass. We would rather you heard them from us, in the room, than from a consultant in week six.</a:t>
            </a:r>
          </a:p>
        </p:txBody>
      </p:sp>
      <p:sp>
        <p:nvSpPr>
          <p:cNvPr id="52" name="TextBox 51"/>
          <p:cNvSpPr txBox="1"/>
          <p:nvPr/>
        </p:nvSpPr>
        <p:spPr>
          <a:xfrm>
            <a:off x="7360920" y="4713732"/>
            <a:ext cx="4169663" cy="1188720"/>
          </a:xfrm>
          <a:prstGeom prst="rect">
            <a:avLst/>
          </a:prstGeom>
          <a:noFill/>
        </p:spPr>
        <p:txBody>
          <a:bodyPr wrap="square" anchor="t" lIns="0" rIns="0" tIns="0" bIns="0">
            <a:spAutoFit/>
          </a:bodyPr>
          <a:lstStyle/>
          <a:p>
            <a:pPr>
              <a:lnSpc>
                <a:spcPct val="145000"/>
              </a:lnSpc>
              <a:spcBef>
                <a:spcPts val="0"/>
              </a:spcBef>
              <a:spcAft>
                <a:spcPts val="0"/>
              </a:spcAft>
            </a:pPr>
            <a:r>
              <a:rPr sz="1100" b="0" i="0">
                <a:solidFill>
                  <a:srgbClr val="7A939E"/>
                </a:solidFill>
                <a:latin typeface="Segoe UI"/>
              </a:rPr>
              <a:t>The trust foundations underneath — audit chain, tenant isolation, provenance, durable jobs — are built and tested. What is missing is the enterprise </a:t>
            </a:r>
            <a:r>
              <a:rPr sz="1100" b="0" i="1">
                <a:solidFill>
                  <a:srgbClr val="A8C0C8"/>
                </a:solidFill>
                <a:latin typeface="Segoe UI"/>
              </a:rPr>
              <a:t>operations</a:t>
            </a:r>
            <a:r>
              <a:rPr sz="1100" b="0" i="0">
                <a:solidFill>
                  <a:srgbClr val="7A939E"/>
                </a:solidFill>
                <a:latin typeface="Segoe UI"/>
              </a:rPr>
              <a:t> layer around them. That is a known, bounded, unglamorous list.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DEPLOYMENT  </a:t>
            </a:r>
            <a:r>
              <a:rPr sz="900" b="1" i="0" spc="140">
                <a:solidFill>
                  <a:srgbClr val="3EDCC2"/>
                </a:solidFill>
                <a:latin typeface="Consolas"/>
              </a:rPr>
              <a:t>15  </a:t>
            </a:r>
            <a:r>
              <a:rPr sz="900" b="0" i="0" spc="140">
                <a:solidFill>
                  <a:srgbClr val="7A939E"/>
                </a:solidFill>
                <a:latin typeface="Consolas"/>
              </a:rPr>
              <a:t>FOUR SHAPES, ONE CODEBASE</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696212"/>
            <a:ext cx="2629585" cy="17830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13816" y="1833372"/>
            <a:ext cx="2318689" cy="15087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SHAPE 01</a:t>
            </a:r>
          </a:p>
          <a:p>
            <a:pPr>
              <a:spcBef>
                <a:spcPts val="0"/>
              </a:spcBef>
              <a:spcAft>
                <a:spcPts val="500"/>
              </a:spcAft>
            </a:pPr>
            <a:r>
              <a:rPr sz="1200" b="1" i="0">
                <a:solidFill>
                  <a:srgbClr val="E9F2F4"/>
                </a:solidFill>
                <a:latin typeface="Segoe UI"/>
              </a:rPr>
              <a:t>Preckon SaaS</a:t>
            </a:r>
          </a:p>
          <a:p>
            <a:pPr>
              <a:lnSpc>
                <a:spcPct val="138000"/>
              </a:lnSpc>
              <a:spcBef>
                <a:spcPts val="0"/>
              </a:spcBef>
              <a:spcAft>
                <a:spcPts val="0"/>
              </a:spcAft>
            </a:pPr>
            <a:r>
              <a:rPr sz="1050" b="0" i="0">
                <a:solidFill>
                  <a:srgbClr val="A8C0C8"/>
                </a:solidFill>
                <a:latin typeface="Segoe UI"/>
              </a:rPr>
              <a:t>Multi-tenant, managed. Fastest to value, standard commercial terms.</a:t>
            </a:r>
          </a:p>
        </p:txBody>
      </p:sp>
      <p:sp>
        <p:nvSpPr>
          <p:cNvPr id="7" name="Rounded Rectangle 6"/>
          <p:cNvSpPr/>
          <p:nvPr/>
        </p:nvSpPr>
        <p:spPr>
          <a:xfrm>
            <a:off x="3406825" y="1696212"/>
            <a:ext cx="2629585" cy="17830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3562273" y="1833372"/>
            <a:ext cx="2318689" cy="15087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SHAPE 02</a:t>
            </a:r>
          </a:p>
          <a:p>
            <a:pPr>
              <a:spcBef>
                <a:spcPts val="0"/>
              </a:spcBef>
              <a:spcAft>
                <a:spcPts val="500"/>
              </a:spcAft>
            </a:pPr>
            <a:r>
              <a:rPr sz="1200" b="1" i="0">
                <a:solidFill>
                  <a:srgbClr val="E9F2F4"/>
                </a:solidFill>
                <a:latin typeface="Segoe UI"/>
              </a:rPr>
              <a:t>Dedicated cloud</a:t>
            </a:r>
          </a:p>
          <a:p>
            <a:pPr>
              <a:lnSpc>
                <a:spcPct val="138000"/>
              </a:lnSpc>
              <a:spcBef>
                <a:spcPts val="0"/>
              </a:spcBef>
              <a:spcAft>
                <a:spcPts val="0"/>
              </a:spcAft>
            </a:pPr>
            <a:r>
              <a:rPr sz="1050" b="0" i="0">
                <a:solidFill>
                  <a:srgbClr val="A8C0C8"/>
                </a:solidFill>
                <a:latin typeface="Segoe UI"/>
              </a:rPr>
              <a:t>Your region, your isolation boundary, our operations.</a:t>
            </a:r>
          </a:p>
        </p:txBody>
      </p:sp>
      <p:sp>
        <p:nvSpPr>
          <p:cNvPr id="9" name="Rounded Rectangle 8"/>
          <p:cNvSpPr/>
          <p:nvPr/>
        </p:nvSpPr>
        <p:spPr>
          <a:xfrm>
            <a:off x="6155283" y="1696212"/>
            <a:ext cx="2629585" cy="17830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310731" y="1833372"/>
            <a:ext cx="2318689" cy="15087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SHAPE 03</a:t>
            </a:r>
          </a:p>
          <a:p>
            <a:pPr>
              <a:spcBef>
                <a:spcPts val="0"/>
              </a:spcBef>
              <a:spcAft>
                <a:spcPts val="500"/>
              </a:spcAft>
            </a:pPr>
            <a:r>
              <a:rPr sz="1200" b="1" i="0">
                <a:solidFill>
                  <a:srgbClr val="E9F2F4"/>
                </a:solidFill>
                <a:latin typeface="Segoe UI"/>
              </a:rPr>
              <a:t>Private AI</a:t>
            </a:r>
          </a:p>
          <a:p>
            <a:pPr>
              <a:lnSpc>
                <a:spcPct val="138000"/>
              </a:lnSpc>
              <a:spcBef>
                <a:spcPts val="0"/>
              </a:spcBef>
              <a:spcAft>
                <a:spcPts val="0"/>
              </a:spcAft>
            </a:pPr>
            <a:r>
              <a:rPr sz="1050" b="0" i="0">
                <a:solidFill>
                  <a:srgbClr val="A8C0C8"/>
                </a:solidFill>
                <a:latin typeface="Segoe UI"/>
              </a:rPr>
              <a:t>Inference inside your boundary. No document reaches an external provider.</a:t>
            </a:r>
          </a:p>
        </p:txBody>
      </p:sp>
      <p:sp>
        <p:nvSpPr>
          <p:cNvPr id="11" name="Rounded Rectangle 10"/>
          <p:cNvSpPr/>
          <p:nvPr/>
        </p:nvSpPr>
        <p:spPr>
          <a:xfrm>
            <a:off x="8903741" y="1696212"/>
            <a:ext cx="2629585" cy="17830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059189" y="1833372"/>
            <a:ext cx="2318689" cy="15087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SHAPE 04</a:t>
            </a:r>
          </a:p>
          <a:p>
            <a:pPr>
              <a:spcBef>
                <a:spcPts val="0"/>
              </a:spcBef>
              <a:spcAft>
                <a:spcPts val="500"/>
              </a:spcAft>
            </a:pPr>
            <a:r>
              <a:rPr sz="1200" b="1" i="0">
                <a:solidFill>
                  <a:srgbClr val="E9F2F4"/>
                </a:solidFill>
                <a:latin typeface="Segoe UI"/>
              </a:rPr>
              <a:t>Sovereign AI</a:t>
            </a:r>
          </a:p>
          <a:p>
            <a:pPr>
              <a:lnSpc>
                <a:spcPct val="138000"/>
              </a:lnSpc>
              <a:spcBef>
                <a:spcPts val="0"/>
              </a:spcBef>
              <a:spcAft>
                <a:spcPts val="0"/>
              </a:spcAft>
            </a:pPr>
            <a:r>
              <a:rPr sz="1050" b="0" i="0">
                <a:solidFill>
                  <a:srgbClr val="A8C0C8"/>
                </a:solidFill>
                <a:latin typeface="Segoe UI"/>
              </a:rPr>
              <a:t>Full on-premise, including the model serving layer, for regulated and state work.</a:t>
            </a:r>
          </a:p>
        </p:txBody>
      </p:sp>
      <p:sp>
        <p:nvSpPr>
          <p:cNvPr id="13" name="TextBox 12"/>
          <p:cNvSpPr txBox="1"/>
          <p:nvPr/>
        </p:nvSpPr>
        <p:spPr>
          <a:xfrm>
            <a:off x="658368" y="3845052"/>
            <a:ext cx="10058400" cy="1005840"/>
          </a:xfrm>
          <a:prstGeom prst="rect">
            <a:avLst/>
          </a:prstGeom>
          <a:noFill/>
        </p:spPr>
        <p:txBody>
          <a:bodyPr wrap="square" anchor="t" lIns="0" rIns="0" tIns="0" bIns="0">
            <a:spAutoFit/>
          </a:bodyPr>
          <a:lstStyle/>
          <a:p>
            <a:pPr>
              <a:lnSpc>
                <a:spcPct val="142000"/>
              </a:lnSpc>
              <a:spcBef>
                <a:spcPts val="0"/>
              </a:spcBef>
              <a:spcAft>
                <a:spcPts val="700"/>
              </a:spcAft>
            </a:pPr>
            <a:r>
              <a:rPr sz="1400" b="1" i="0">
                <a:solidFill>
                  <a:srgbClr val="E9F2F4"/>
                </a:solidFill>
                <a:latin typeface="Segoe UI"/>
              </a:rPr>
              <a:t>There is no enterprise fork.</a:t>
            </a:r>
            <a:r>
              <a:rPr sz="1400" b="0" i="0">
                <a:solidFill>
                  <a:srgbClr val="A8C0C8"/>
                </a:solidFill>
                <a:latin typeface="Segoe UI"/>
              </a:rPr>
              <a:t> The same domain model, identity model, API contracts, workflow concepts, audit model and AI governance operate across all four. The deployment shape is configuration and hosting — never a second codebase to maintain, and never a second product to certify.</a:t>
            </a:r>
          </a:p>
        </p:txBody>
      </p:sp>
      <p:sp>
        <p:nvSpPr>
          <p:cNvPr id="14" name="TextBox 13"/>
          <p:cNvSpPr txBox="1"/>
          <p:nvPr/>
        </p:nvSpPr>
        <p:spPr>
          <a:xfrm>
            <a:off x="658368" y="5033772"/>
            <a:ext cx="10058400" cy="640080"/>
          </a:xfrm>
          <a:prstGeom prst="rect">
            <a:avLst/>
          </a:prstGeom>
          <a:noFill/>
        </p:spPr>
        <p:txBody>
          <a:bodyPr wrap="square" anchor="t" lIns="0" rIns="0" tIns="0" bIns="0">
            <a:spAutoFit/>
          </a:bodyPr>
          <a:lstStyle/>
          <a:p>
            <a:pPr>
              <a:lnSpc>
                <a:spcPct val="142000"/>
              </a:lnSpc>
              <a:spcBef>
                <a:spcPts val="0"/>
              </a:spcBef>
              <a:spcAft>
                <a:spcPts val="0"/>
              </a:spcAft>
            </a:pPr>
            <a:r>
              <a:rPr sz="1100" b="0" i="0">
                <a:solidFill>
                  <a:srgbClr val="7A939E"/>
                </a:solidFill>
                <a:latin typeface="Segoe UI"/>
              </a:rPr>
              <a:t>Commercially the same fabric is presented as three capability tiers — </a:t>
            </a:r>
            <a:r>
              <a:rPr sz="1100" b="0" i="0">
                <a:solidFill>
                  <a:srgbClr val="A8C0C8"/>
                </a:solidFill>
                <a:latin typeface="Consolas"/>
              </a:rPr>
              <a:t>Edge</a:t>
            </a:r>
            <a:r>
              <a:rPr sz="1100" b="0" i="0">
                <a:solidFill>
                  <a:srgbClr val="7A939E"/>
                </a:solidFill>
                <a:latin typeface="Segoe UI"/>
              </a:rPr>
              <a:t>, </a:t>
            </a:r>
            <a:r>
              <a:rPr sz="1100" b="0" i="0">
                <a:solidFill>
                  <a:srgbClr val="A8C0C8"/>
                </a:solidFill>
                <a:latin typeface="Consolas"/>
              </a:rPr>
              <a:t>Construction AI</a:t>
            </a:r>
            <a:r>
              <a:rPr sz="1100" b="0" i="0">
                <a:solidFill>
                  <a:srgbClr val="7A939E"/>
                </a:solidFill>
                <a:latin typeface="Segoe UI"/>
              </a:rPr>
              <a:t>, </a:t>
            </a:r>
            <a:r>
              <a:rPr sz="1100" b="0" i="0">
                <a:solidFill>
                  <a:srgbClr val="A8C0C8"/>
                </a:solidFill>
                <a:latin typeface="Consolas"/>
              </a:rPr>
              <a:t>Frontier</a:t>
            </a:r>
            <a:r>
              <a:rPr sz="1100" b="0" i="0">
                <a:solidFill>
                  <a:srgbClr val="7A939E"/>
                </a:solidFill>
                <a:latin typeface="Segoe UI"/>
              </a:rPr>
              <a:t> — which are packaging over one architecture, not three of them.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ADOPTION  </a:t>
            </a:r>
            <a:r>
              <a:rPr sz="900" b="1" i="0" spc="140">
                <a:solidFill>
                  <a:srgbClr val="3EDCC2"/>
                </a:solidFill>
                <a:latin typeface="Consolas"/>
              </a:rPr>
              <a:t>16  </a:t>
            </a:r>
            <a:r>
              <a:rPr sz="900" b="0" i="0" spc="140">
                <a:solidFill>
                  <a:srgbClr val="7A939E"/>
                </a:solidFill>
                <a:latin typeface="Consolas"/>
              </a:rPr>
              <a:t>NO RIP AND REPLACE</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901952"/>
            <a:ext cx="3515258" cy="21488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13816" y="2039111"/>
            <a:ext cx="3204362" cy="187452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PHASE A · NOW</a:t>
            </a:r>
          </a:p>
          <a:p>
            <a:pPr>
              <a:spcBef>
                <a:spcPts val="0"/>
              </a:spcBef>
              <a:spcAft>
                <a:spcPts val="500"/>
              </a:spcAft>
            </a:pPr>
            <a:r>
              <a:rPr sz="1200" b="1" i="0">
                <a:solidFill>
                  <a:srgbClr val="E9F2F4"/>
                </a:solidFill>
                <a:latin typeface="Segoe UI"/>
              </a:rPr>
              <a:t>Coexist</a:t>
            </a:r>
          </a:p>
          <a:p>
            <a:pPr>
              <a:lnSpc>
                <a:spcPct val="138000"/>
              </a:lnSpc>
              <a:spcBef>
                <a:spcPts val="0"/>
              </a:spcBef>
              <a:spcAft>
                <a:spcPts val="0"/>
              </a:spcAft>
            </a:pPr>
            <a:r>
              <a:rPr sz="1150" b="0" i="0">
                <a:solidFill>
                  <a:srgbClr val="A8C0C8"/>
                </a:solidFill>
                <a:latin typeface="Segoe UI"/>
              </a:rPr>
              <a:t>Import and export against the Autodesk ecosystem, IFC, DWG and DXF, PDF, Excel, P6 and your ERP. Preckon adds a layer; nothing is switched off.</a:t>
            </a:r>
          </a:p>
        </p:txBody>
      </p:sp>
      <p:sp>
        <p:nvSpPr>
          <p:cNvPr id="7" name="Rounded Rectangle 6"/>
          <p:cNvSpPr/>
          <p:nvPr/>
        </p:nvSpPr>
        <p:spPr>
          <a:xfrm>
            <a:off x="4338218" y="1901952"/>
            <a:ext cx="3515258" cy="21488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4493666" y="2039111"/>
            <a:ext cx="3204362" cy="187452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PHASE B</a:t>
            </a:r>
          </a:p>
          <a:p>
            <a:pPr>
              <a:spcBef>
                <a:spcPts val="0"/>
              </a:spcBef>
              <a:spcAft>
                <a:spcPts val="500"/>
              </a:spcAft>
            </a:pPr>
            <a:r>
              <a:rPr sz="1200" b="1" i="0">
                <a:solidFill>
                  <a:srgbClr val="E9F2F4"/>
                </a:solidFill>
                <a:latin typeface="Segoe UI"/>
              </a:rPr>
              <a:t>Reduce dependency</a:t>
            </a:r>
          </a:p>
          <a:p>
            <a:pPr>
              <a:lnSpc>
                <a:spcPct val="138000"/>
              </a:lnSpc>
              <a:spcBef>
                <a:spcPts val="0"/>
              </a:spcBef>
              <a:spcAft>
                <a:spcPts val="0"/>
              </a:spcAft>
            </a:pPr>
            <a:r>
              <a:rPr sz="1150" b="0" i="0">
                <a:solidFill>
                  <a:srgbClr val="A8C0C8"/>
                </a:solidFill>
                <a:latin typeface="Segoe UI"/>
              </a:rPr>
              <a:t>Takeoff, BOQ, tender workflow, document control and commercial workflows move natively, one at a time, on evidence.</a:t>
            </a:r>
          </a:p>
        </p:txBody>
      </p:sp>
      <p:sp>
        <p:nvSpPr>
          <p:cNvPr id="9" name="Rounded Rectangle 8"/>
          <p:cNvSpPr/>
          <p:nvPr/>
        </p:nvSpPr>
        <p:spPr>
          <a:xfrm>
            <a:off x="8018068" y="1901952"/>
            <a:ext cx="3515258" cy="21488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173516" y="2039111"/>
            <a:ext cx="3204362" cy="187452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PHASE C</a:t>
            </a:r>
          </a:p>
          <a:p>
            <a:pPr>
              <a:spcBef>
                <a:spcPts val="0"/>
              </a:spcBef>
              <a:spcAft>
                <a:spcPts val="500"/>
              </a:spcAft>
            </a:pPr>
            <a:r>
              <a:rPr sz="1200" b="1" i="0">
                <a:solidFill>
                  <a:srgbClr val="E9F2F4"/>
                </a:solidFill>
                <a:latin typeface="Segoe UI"/>
              </a:rPr>
              <a:t>Native</a:t>
            </a:r>
          </a:p>
          <a:p>
            <a:pPr>
              <a:lnSpc>
                <a:spcPct val="138000"/>
              </a:lnSpc>
              <a:spcBef>
                <a:spcPts val="0"/>
              </a:spcBef>
              <a:spcAft>
                <a:spcPts val="0"/>
              </a:spcAft>
            </a:pPr>
            <a:r>
              <a:rPr sz="1150" b="0" i="0">
                <a:solidFill>
                  <a:srgbClr val="A8C0C8"/>
                </a:solidFill>
                <a:latin typeface="Segoe UI"/>
              </a:rPr>
              <a:t>Preckon becomes the system of work from design through handover — while open exchange with consultants and owners is retained permanently.</a:t>
            </a:r>
          </a:p>
        </p:txBody>
      </p:sp>
      <p:sp>
        <p:nvSpPr>
          <p:cNvPr id="11" name="Rectangle 10"/>
          <p:cNvSpPr/>
          <p:nvPr/>
        </p:nvSpPr>
        <p:spPr>
          <a:xfrm>
            <a:off x="658368" y="4553711"/>
            <a:ext cx="22860" cy="566928"/>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4553711"/>
            <a:ext cx="9454896" cy="914400"/>
          </a:xfrm>
          <a:prstGeom prst="rect">
            <a:avLst/>
          </a:prstGeom>
          <a:noFill/>
        </p:spPr>
        <p:txBody>
          <a:bodyPr wrap="square" anchor="t" lIns="0" rIns="0" tIns="0" bIns="0">
            <a:spAutoFit/>
          </a:bodyPr>
          <a:lstStyle/>
          <a:p>
            <a:pPr>
              <a:lnSpc>
                <a:spcPct val="140000"/>
              </a:lnSpc>
              <a:spcBef>
                <a:spcPts val="0"/>
              </a:spcBef>
              <a:spcAft>
                <a:spcPts val="0"/>
              </a:spcAft>
            </a:pPr>
            <a:r>
              <a:rPr sz="1800" b="0" i="1">
                <a:solidFill>
                  <a:srgbClr val="E9F2F4"/>
                </a:solidFill>
                <a:latin typeface="Georgia"/>
              </a:rPr>
              <a:t>We are not asking anyone to migrate. Phase A has to earn Phase B.</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THE ASK  </a:t>
            </a:r>
            <a:r>
              <a:rPr sz="900" b="1" i="0" spc="140">
                <a:solidFill>
                  <a:srgbClr val="3EDCC2"/>
                </a:solidFill>
                <a:latin typeface="Consolas"/>
              </a:rPr>
              <a:t>17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85316"/>
            <a:ext cx="8686800" cy="1463040"/>
          </a:xfrm>
          <a:prstGeom prst="rect">
            <a:avLst/>
          </a:prstGeom>
          <a:noFill/>
        </p:spPr>
        <p:txBody>
          <a:bodyPr wrap="square" anchor="t" lIns="0" rIns="0" tIns="0" bIns="0">
            <a:spAutoFit/>
          </a:bodyPr>
          <a:lstStyle/>
          <a:p>
            <a:pPr>
              <a:lnSpc>
                <a:spcPct val="112000"/>
              </a:lnSpc>
              <a:spcBef>
                <a:spcPts val="0"/>
              </a:spcBef>
              <a:spcAft>
                <a:spcPts val="0"/>
              </a:spcAft>
            </a:pPr>
            <a:r>
              <a:rPr sz="3000" b="1" i="0">
                <a:solidFill>
                  <a:srgbClr val="E9F2F4"/>
                </a:solidFill>
                <a:latin typeface="Segoe UI"/>
              </a:rPr>
              <a:t>Three things, six weeks, one live tender.</a:t>
            </a:r>
          </a:p>
        </p:txBody>
      </p:sp>
      <p:sp>
        <p:nvSpPr>
          <p:cNvPr id="6" name="TextBox 5"/>
          <p:cNvSpPr txBox="1"/>
          <p:nvPr/>
        </p:nvSpPr>
        <p:spPr>
          <a:xfrm>
            <a:off x="658368" y="2418588"/>
            <a:ext cx="365760" cy="274320"/>
          </a:xfrm>
          <a:prstGeom prst="rect">
            <a:avLst/>
          </a:prstGeom>
          <a:noFill/>
        </p:spPr>
        <p:txBody>
          <a:bodyPr wrap="square" anchor="t" lIns="0" rIns="0" tIns="0" bIns="0">
            <a:spAutoFit/>
          </a:bodyPr>
          <a:lstStyle/>
          <a:p>
            <a:r>
              <a:rPr sz="900" b="1" i="0" spc="100">
                <a:solidFill>
                  <a:srgbClr val="3EDCC2"/>
                </a:solidFill>
                <a:latin typeface="Consolas"/>
              </a:rPr>
              <a:t>01</a:t>
            </a:r>
          </a:p>
        </p:txBody>
      </p:sp>
      <p:sp>
        <p:nvSpPr>
          <p:cNvPr id="7" name="TextBox 6"/>
          <p:cNvSpPr txBox="1"/>
          <p:nvPr/>
        </p:nvSpPr>
        <p:spPr>
          <a:xfrm>
            <a:off x="1078992" y="2382012"/>
            <a:ext cx="7863840" cy="777240"/>
          </a:xfrm>
          <a:prstGeom prst="rect">
            <a:avLst/>
          </a:prstGeom>
          <a:noFill/>
        </p:spPr>
        <p:txBody>
          <a:bodyPr wrap="square" anchor="t" lIns="0" rIns="0" tIns="0" bIns="0">
            <a:spAutoFit/>
          </a:bodyPr>
          <a:lstStyle/>
          <a:p>
            <a:pPr>
              <a:lnSpc>
                <a:spcPct val="145000"/>
              </a:lnSpc>
              <a:spcBef>
                <a:spcPts val="0"/>
              </a:spcBef>
              <a:spcAft>
                <a:spcPts val="0"/>
              </a:spcAft>
            </a:pPr>
            <a:r>
              <a:rPr sz="1350" b="1" i="0">
                <a:solidFill>
                  <a:srgbClr val="E9F2F4"/>
                </a:solidFill>
                <a:latin typeface="Segoe UI"/>
              </a:rPr>
              <a:t>One real bid, end to end.</a:t>
            </a:r>
            <a:r>
              <a:rPr sz="1350" b="0" i="0">
                <a:solidFill>
                  <a:srgbClr val="A8C0C8"/>
                </a:solidFill>
                <a:latin typeface="Segoe UI"/>
              </a:rPr>
              <a:t> One project, one estimating team, six weeks — measured against a bid you have already priced, so the comparison is yours and not ours.</a:t>
            </a:r>
          </a:p>
        </p:txBody>
      </p:sp>
      <p:sp>
        <p:nvSpPr>
          <p:cNvPr id="8" name="TextBox 7"/>
          <p:cNvSpPr txBox="1"/>
          <p:nvPr/>
        </p:nvSpPr>
        <p:spPr>
          <a:xfrm>
            <a:off x="658368" y="3259836"/>
            <a:ext cx="365760" cy="274320"/>
          </a:xfrm>
          <a:prstGeom prst="rect">
            <a:avLst/>
          </a:prstGeom>
          <a:noFill/>
        </p:spPr>
        <p:txBody>
          <a:bodyPr wrap="square" anchor="t" lIns="0" rIns="0" tIns="0" bIns="0">
            <a:spAutoFit/>
          </a:bodyPr>
          <a:lstStyle/>
          <a:p>
            <a:r>
              <a:rPr sz="900" b="1" i="0" spc="100">
                <a:solidFill>
                  <a:srgbClr val="3EDCC2"/>
                </a:solidFill>
                <a:latin typeface="Consolas"/>
              </a:rPr>
              <a:t>02</a:t>
            </a:r>
          </a:p>
        </p:txBody>
      </p:sp>
      <p:sp>
        <p:nvSpPr>
          <p:cNvPr id="9" name="TextBox 8"/>
          <p:cNvSpPr txBox="1"/>
          <p:nvPr/>
        </p:nvSpPr>
        <p:spPr>
          <a:xfrm>
            <a:off x="1078992" y="3223260"/>
            <a:ext cx="7863840" cy="777240"/>
          </a:xfrm>
          <a:prstGeom prst="rect">
            <a:avLst/>
          </a:prstGeom>
          <a:noFill/>
        </p:spPr>
        <p:txBody>
          <a:bodyPr wrap="square" anchor="t" lIns="0" rIns="0" tIns="0" bIns="0">
            <a:spAutoFit/>
          </a:bodyPr>
          <a:lstStyle/>
          <a:p>
            <a:pPr>
              <a:lnSpc>
                <a:spcPct val="145000"/>
              </a:lnSpc>
              <a:spcBef>
                <a:spcPts val="0"/>
              </a:spcBef>
              <a:spcAft>
                <a:spcPts val="0"/>
              </a:spcAft>
            </a:pPr>
            <a:r>
              <a:rPr sz="1350" b="1" i="0">
                <a:solidFill>
                  <a:srgbClr val="E9F2F4"/>
                </a:solidFill>
                <a:latin typeface="Segoe UI"/>
              </a:rPr>
              <a:t>A golden set.</a:t>
            </a:r>
            <a:r>
              <a:rPr sz="1350" b="0" i="0">
                <a:solidFill>
                  <a:srgbClr val="A8C0C8"/>
                </a:solidFill>
                <a:latin typeface="Segoe UI"/>
              </a:rPr>
              <a:t> One design set paired with its final priced BOQ, which we hold as a regression fixture. Accuracy stops being a claim the moment it has a fixture behind it.</a:t>
            </a:r>
          </a:p>
        </p:txBody>
      </p:sp>
      <p:sp>
        <p:nvSpPr>
          <p:cNvPr id="10" name="TextBox 9"/>
          <p:cNvSpPr txBox="1"/>
          <p:nvPr/>
        </p:nvSpPr>
        <p:spPr>
          <a:xfrm>
            <a:off x="658368" y="4101084"/>
            <a:ext cx="365760" cy="274320"/>
          </a:xfrm>
          <a:prstGeom prst="rect">
            <a:avLst/>
          </a:prstGeom>
          <a:noFill/>
        </p:spPr>
        <p:txBody>
          <a:bodyPr wrap="square" anchor="t" lIns="0" rIns="0" tIns="0" bIns="0">
            <a:spAutoFit/>
          </a:bodyPr>
          <a:lstStyle/>
          <a:p>
            <a:r>
              <a:rPr sz="900" b="1" i="0" spc="100">
                <a:solidFill>
                  <a:srgbClr val="3EDCC2"/>
                </a:solidFill>
                <a:latin typeface="Consolas"/>
              </a:rPr>
              <a:t>03</a:t>
            </a:r>
          </a:p>
        </p:txBody>
      </p:sp>
      <p:sp>
        <p:nvSpPr>
          <p:cNvPr id="11" name="TextBox 10"/>
          <p:cNvSpPr txBox="1"/>
          <p:nvPr/>
        </p:nvSpPr>
        <p:spPr>
          <a:xfrm>
            <a:off x="1078992" y="4064508"/>
            <a:ext cx="7863840" cy="777240"/>
          </a:xfrm>
          <a:prstGeom prst="rect">
            <a:avLst/>
          </a:prstGeom>
          <a:noFill/>
        </p:spPr>
        <p:txBody>
          <a:bodyPr wrap="square" anchor="t" lIns="0" rIns="0" tIns="0" bIns="0">
            <a:spAutoFit/>
          </a:bodyPr>
          <a:lstStyle/>
          <a:p>
            <a:pPr>
              <a:lnSpc>
                <a:spcPct val="145000"/>
              </a:lnSpc>
              <a:spcBef>
                <a:spcPts val="0"/>
              </a:spcBef>
              <a:spcAft>
                <a:spcPts val="0"/>
              </a:spcAft>
            </a:pPr>
            <a:r>
              <a:rPr sz="1350" b="1" i="0">
                <a:solidFill>
                  <a:srgbClr val="E9F2F4"/>
                </a:solidFill>
                <a:latin typeface="Segoe UI"/>
              </a:rPr>
              <a:t>A named security counterpart.</a:t>
            </a:r>
            <a:r>
              <a:rPr sz="1350" b="0" i="0">
                <a:solidFill>
                  <a:srgbClr val="A8C0C8"/>
                </a:solidFill>
                <a:latin typeface="Segoe UI"/>
              </a:rPr>
              <a:t> Someone on your side who closes that P0 list with us inside the same six weeks — SSO, MFA, CI, staging, backups.</a:t>
            </a:r>
          </a:p>
        </p:txBody>
      </p:sp>
      <p:sp>
        <p:nvSpPr>
          <p:cNvPr id="12" name="Rounded Rectangle 11"/>
          <p:cNvSpPr/>
          <p:nvPr/>
        </p:nvSpPr>
        <p:spPr>
          <a:xfrm>
            <a:off x="658368" y="5070348"/>
            <a:ext cx="8284464" cy="91440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13816" y="5207508"/>
            <a:ext cx="7973568" cy="64008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WHAT WE ARE NOT ASKING FOR</a:t>
            </a:r>
          </a:p>
          <a:p>
            <a:pPr>
              <a:lnSpc>
                <a:spcPct val="138000"/>
              </a:lnSpc>
              <a:spcBef>
                <a:spcPts val="0"/>
              </a:spcBef>
              <a:spcAft>
                <a:spcPts val="0"/>
              </a:spcAft>
            </a:pPr>
            <a:r>
              <a:rPr sz="1250" b="0" i="0">
                <a:solidFill>
                  <a:srgbClr val="E9F2F4"/>
                </a:solidFill>
                <a:latin typeface="Segoe UI"/>
              </a:rPr>
              <a:t>A migration. A system to be switched off. A commitment beyond the pilot. Or a decision today.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CLOSE  </a:t>
            </a:r>
            <a:r>
              <a:rPr sz="900" b="1" i="0" spc="140">
                <a:solidFill>
                  <a:srgbClr val="3EDCC2"/>
                </a:solidFill>
                <a:latin typeface="Consolas"/>
              </a:rPr>
              <a:t>18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36192"/>
            <a:ext cx="8046720" cy="822960"/>
          </a:xfrm>
          <a:prstGeom prst="rect">
            <a:avLst/>
          </a:prstGeom>
          <a:noFill/>
        </p:spPr>
        <p:txBody>
          <a:bodyPr wrap="square" anchor="t" lIns="0" rIns="0" tIns="0" bIns="0">
            <a:spAutoFit/>
          </a:bodyPr>
          <a:lstStyle/>
          <a:p>
            <a:pPr>
              <a:lnSpc>
                <a:spcPct val="145000"/>
              </a:lnSpc>
              <a:spcBef>
                <a:spcPts val="0"/>
              </a:spcBef>
              <a:spcAft>
                <a:spcPts val="0"/>
              </a:spcAft>
            </a:pPr>
            <a:r>
              <a:rPr sz="1700" b="0" i="0">
                <a:solidFill>
                  <a:srgbClr val="A8C0C8"/>
                </a:solidFill>
                <a:latin typeface="Segoe UI"/>
              </a:rPr>
              <a:t>Twenty minutes, from an empty project to a priced bill, a programme, a technical submission and a register of what is still outstanding.</a:t>
            </a:r>
          </a:p>
        </p:txBody>
      </p:sp>
      <p:sp>
        <p:nvSpPr>
          <p:cNvPr id="6" name="TextBox 5"/>
          <p:cNvSpPr txBox="1"/>
          <p:nvPr/>
        </p:nvSpPr>
        <p:spPr>
          <a:xfrm>
            <a:off x="658368" y="2633472"/>
            <a:ext cx="8595360" cy="1463040"/>
          </a:xfrm>
          <a:prstGeom prst="rect">
            <a:avLst/>
          </a:prstGeom>
          <a:noFill/>
        </p:spPr>
        <p:txBody>
          <a:bodyPr wrap="square" anchor="t" lIns="0" rIns="0" tIns="0" bIns="0">
            <a:spAutoFit/>
          </a:bodyPr>
          <a:lstStyle/>
          <a:p>
            <a:pPr>
              <a:lnSpc>
                <a:spcPct val="112000"/>
              </a:lnSpc>
              <a:spcBef>
                <a:spcPts val="0"/>
              </a:spcBef>
              <a:spcAft>
                <a:spcPts val="0"/>
              </a:spcAft>
            </a:pPr>
            <a:r>
              <a:rPr sz="3000" b="1" i="0">
                <a:solidFill>
                  <a:srgbClr val="E9F2F4"/>
                </a:solidFill>
                <a:latin typeface="Segoe UI"/>
              </a:rPr>
              <a:t>But the number of minutes was never the argument.</a:t>
            </a:r>
          </a:p>
        </p:txBody>
      </p:sp>
      <p:sp>
        <p:nvSpPr>
          <p:cNvPr id="7" name="Rectangle 6"/>
          <p:cNvSpPr/>
          <p:nvPr/>
        </p:nvSpPr>
        <p:spPr>
          <a:xfrm>
            <a:off x="658368" y="4005072"/>
            <a:ext cx="22860" cy="566928"/>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4005072"/>
            <a:ext cx="9180576" cy="914400"/>
          </a:xfrm>
          <a:prstGeom prst="rect">
            <a:avLst/>
          </a:prstGeom>
          <a:noFill/>
        </p:spPr>
        <p:txBody>
          <a:bodyPr wrap="square" anchor="t" lIns="0" rIns="0" tIns="0" bIns="0">
            <a:spAutoFit/>
          </a:bodyPr>
          <a:lstStyle/>
          <a:p>
            <a:pPr>
              <a:lnSpc>
                <a:spcPct val="140000"/>
              </a:lnSpc>
              <a:spcBef>
                <a:spcPts val="0"/>
              </a:spcBef>
              <a:spcAft>
                <a:spcPts val="0"/>
              </a:spcAft>
            </a:pPr>
            <a:r>
              <a:rPr sz="1900" b="0" i="1">
                <a:solidFill>
                  <a:srgbClr val="E9F2F4"/>
                </a:solidFill>
                <a:latin typeface="Georgia"/>
              </a:rPr>
              <a:t>Every number you saw today can name where it came from. A page of a tender, a layer of a drawing, or a person who typed it and signed for it.</a:t>
            </a:r>
          </a:p>
        </p:txBody>
      </p:sp>
      <p:sp>
        <p:nvSpPr>
          <p:cNvPr id="9" name="TextBox 8"/>
          <p:cNvSpPr txBox="1"/>
          <p:nvPr/>
        </p:nvSpPr>
        <p:spPr>
          <a:xfrm>
            <a:off x="804672" y="5285232"/>
            <a:ext cx="9326880" cy="548640"/>
          </a:xfrm>
          <a:prstGeom prst="rect">
            <a:avLst/>
          </a:prstGeom>
          <a:noFill/>
        </p:spPr>
        <p:txBody>
          <a:bodyPr wrap="square" anchor="t" lIns="0" rIns="0" tIns="0" bIns="0">
            <a:spAutoFit/>
          </a:bodyPr>
          <a:lstStyle/>
          <a:p>
            <a:pPr>
              <a:lnSpc>
                <a:spcPct val="140000"/>
              </a:lnSpc>
              <a:spcBef>
                <a:spcPts val="0"/>
              </a:spcBef>
              <a:spcAft>
                <a:spcPts val="0"/>
              </a:spcAft>
            </a:pPr>
            <a:r>
              <a:rPr sz="1900" b="0" i="1">
                <a:solidFill>
                  <a:srgbClr val="E9F2F4"/>
                </a:solidFill>
                <a:latin typeface="Georgia"/>
              </a:rPr>
              <a:t>That is the whole product. The rest is speed.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